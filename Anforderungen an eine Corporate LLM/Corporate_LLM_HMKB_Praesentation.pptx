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tmp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9"/>
  </p:notesMasterIdLst>
  <p:sldIdLst>
    <p:sldId id="256" r:id="rId8"/>
    <p:sldId id="257" r:id="rId7"/>
    <p:sldId id="258" r:id="rId6"/>
    <p:sldId id="259" r:id="rId5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80" d="100"/>
          <a:sy n="80" d="100"/>
        </p:scale>
        <p:origin x="832" y="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Wir sprechen über eine KI, die dem HMKB gehört und im eigenen Haus läuft. Kein Cloud-Dienst, keine Daten bei Dritten. Die zentrale Frage ist nicht 'geht das technisch', sondern 'wie weit kommen wir ohne die HZD'.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Wichtig: nicht mit Technik einsteigen. Der Schmerz ist bekannt — händische Testfälle und Doku. Die Frage ans Referat lautet später: wollen wir Phase 1 starten, ohne auf die HZD zu warten?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= die KI schlägt in den eigenen Dokumenten nach, bevor sie antwortet. Dadurch erfindet sie deutlich weniger. Alle vier Bausteine sind Open Source — es fallen keine Lizenzkosten an, nur Hardware und Arbeit.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Mistral ist die politisch und rechtlich sauberste Wahl: EU-Anbieter, freie Apache-Lizenz. Qwen ist qualitativ besser, kommt aber aus China — das kann in der Behörde eine Diskussion auslösen. Deshalb: beide installieren, Referat entscheidet nach eigenem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Lizenzkosten, weil der gesamte Software-Stack Open Source ist. Der größte Posten ist Arbeitszeit, nicht Technik. Nach zwei Jahren gehört die Hardware dem HMKB — keine wiederkehrende Abo-Gebühr.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die Folie, auf der die ehrliche Einordnung passiert. Nicht beschönigen: eine einfache Netzwerkfreigabe ist es nicht. Auch kleine Freigaben durchlaufen bei der HZD lange Genehmigungsprozesse — IT-Sicherheitskonzept, Datenschutzfolgeabschätzung. Beantragen heißt nicht durchsetzen. Deshalb bauen wir Phase 1 so, dass sie ohne die HZD trägt.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 der Präsentation. Phase 1 ist kein Kompromiss und keine Notlösung, sondern ein vollwertiger erster Schritt. Phase 2 ist ein Ziel, kein Versprechen — sie hängt an einer Entscheidung, die weder das Referat noch wir allein treffen können.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Konkretes Beispiel statt abstrakter Nutzenversprechen. Wichtig betonen: Der Mensch prüft und gibt frei. Die KI ersetzt niemanden, sie nimmt die stumpfe Vorarbeit ab. Dieser Anwendungsfall funktioniert auch in Phase 1 — die AWA wird dann exportiert statt live gelesen.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Folie schafft Vertrauen. Sie zeigt: wir haben nicht nur einen Weg gefunden, sondern vier geprüft. Wer im Referat kritisch ist, findet hier seine Einwände bereits behandelt.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 mit einer konkreten Entscheidungsfrage, nicht mit einem Ausblick. Das Referat soll heute nicht Phase 2 beschließen — es soll entscheiden, ob Phase 1 beginnen darf.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Schlussfolie. Bewusst kurz halten und stehen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kultus.hessen.de/" TargetMode="External"/><Relationship Id="rId3" Type="http://schemas.openxmlformats.org/officeDocument/2006/relationships/image" Target="../media/image1.tm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kultus.hessen.de/" TargetMode="External"/><Relationship Id="rId15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Corporate LLM im Eigenbetrieb — was mit und was ohne die HZD möglich ist</a:t>
            </a:r>
          </a:p>
          <a:p>
            <a:r>
              <a:t>Referat IV. 2.1  ·  Stand: 11.09.2026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Eine eigene KI für das HMKB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Worum es geht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B63"/>
                </a:solidFill>
              </a:rPr>
              <a:t>Die Ausgangslage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Testfälle werden heute händisch pro AWA erstellt — fehleranfällig und langsam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Verfahrensdokumentation wird händisch gepflegt und als PDF abgelegt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Wissen über die LUSD steckt in Köpfen, ADO-Tickets und SharePoint-Dokumenten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B63"/>
                </a:solidFill>
              </a:rPr>
              <a:t>Der Vorschlag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Ein Corporate LLM — eine Sprach-KI, die dem HMKB gehört und im Eigenbetrieb läuft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Alle Daten bleiben im Haus. Kein Cloud-Anbieter, keine Weitergabe an Dritte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Budgetrahmen: maximal 100.000 € über zwei Jahre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B63"/>
                </a:solidFill>
              </a:rPr>
              <a:t>Der Kern dieser Präsentation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Es gibt einen Weg, der sofort funktioniert — ganz ohne die HZD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Und einen Vollausbau, der ohne die HZD nicht geht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eine „Keller-KI“ 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19659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300" b="1">
                <a:solidFill>
                  <a:srgbClr val="1F3B63"/>
                </a:solidFill>
              </a:rPr>
              <a:t>Das Modell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Die Sprach-KI selbst.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Läuft lokal auf eigener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Hardware — offline.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87752" y="1234440"/>
            <a:ext cx="19659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300" b="1">
                <a:solidFill>
                  <a:srgbClr val="1F3B63"/>
                </a:solidFill>
              </a:rPr>
              <a:t>Die Oberfläche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Ein Browser-Fenster,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wie man es von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Chatdiensten kennt.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18304" y="1234440"/>
            <a:ext cx="19659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300" b="1">
                <a:solidFill>
                  <a:srgbClr val="007A33"/>
                </a:solidFill>
              </a:rPr>
              <a:t>Die Wissens-</a:t>
            </a:r>
            <a:br/>
            <a:r>
              <a:t>datenbank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Eigene Dokumente,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durchsuchbar gemacht.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AWAs, Handbücher, Doku.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8856" y="1234440"/>
            <a:ext cx="19659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300" b="1">
                <a:solidFill>
                  <a:srgbClr val="007A33"/>
                </a:solidFill>
              </a:rPr>
              <a:t>Die Agenten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Vorkonfigurierte Helfer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für wiederkehrende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Aufgaben.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880360"/>
          <a:ext cx="8229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2560320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Baustein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Software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Lizenzkosten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Modellbetrieb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Ollama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0 € — Open Source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Benutzeroberfläche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Open WebUI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0 € — Open Source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Wissensdatenbank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Qdrant (Vektordatenbank)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0 € — Open Source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Dokumentensuche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RAG-Verfahren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0 € — Open Source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und Modellauswahl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3931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400" b="1">
                <a:solidFill>
                  <a:srgbClr val="1F3B63"/>
                </a:solidFill>
              </a:rPr>
              <a:t>Hardware-Empfehlung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NVIDIA RTX A6000 Ada, 48 GB Grafikspeicher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in einem Dell PowerEdge Server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15.000 – 20.000 € einmalig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234440"/>
            <a:ext cx="3931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400" b="1">
                <a:solidFill>
                  <a:srgbClr val="007A33"/>
                </a:solidFill>
              </a:rPr>
              <a:t>Was die Hardware leistet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Modelle bis 32 Milliarden Parameter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10 – 20 gleichzeitige Nutzer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bei rund 60 Berechtigten insgesamt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8036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554480"/>
                <a:gridCol w="30175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Modell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Herkunft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Qualität Deutsch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Einordnung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Mistral Small 3.2 (24B)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Frankreich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Gut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1. Wahl — EU-Anbieter, Apache 2.0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Qwen 2.5 (32B)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China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Sehr gut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2. Wahl — beste Qualität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Llama 4 Scout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USA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Befriedigend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959"/>
                          </a:solidFill>
                        </a:defRPr>
                      </a:pPr>
                      <a:r>
                        <a:t>Rückfalloption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Mehrere Modelle laufen parallel auf derselben Hardware und lassen sich per Klick wechseln. Die Entscheidung ist nicht endgültig.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Kosten über zwei Jahre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280160"/>
          <a:ext cx="6949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377440"/>
              </a:tblGrid>
              <a:tr h="426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Posten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Betrag</a:t>
                      </a:r>
                    </a:p>
                  </a:txBody>
                  <a:tcPr anchor="ctr" marL="73152" marR="73152" marT="27432" marB="27432">
                    <a:solidFill>
                      <a:srgbClr val="1F3B6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Hardware (Server inkl. Grafikkarte)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15.000 – 20.000 €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Einrichtung und Konfiguration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18.000 – 30.000 €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Betrieb und Wartung (24 Monate)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15.000 – 27.000 €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Puffer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5.000 – 10.000 €</a:t>
                      </a:r>
                    </a:p>
                  </a:txBody>
                  <a:tcPr anchor="ctr" marL="73152" marR="73152" marT="27432" marB="27432">
                    <a:solidFill>
                      <a:srgbClr val="EFEF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Gesamt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53.000 – 87.000 €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97280" y="3977639"/>
            <a:ext cx="69494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400" b="1">
                <a:solidFill>
                  <a:srgbClr val="007A33"/>
                </a:solidFill>
              </a:rPr>
              <a:t>Ergebnis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Der Budgetrahmen von 100.000 € wird in jeder Variante eingehalten — auch im oberen Kostenszenario bleibt Luft.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entscheidende Hürde: das Hessennetz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</a:rPr>
              <a:t>Alle HMKB-Fachsysteme laufen im Hessennetz — einem geschlossenen Behördennetz.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</a:rPr>
              <a:t>Was das konkret bedeutet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SharePoint läuft on-premise bei der HZD — von außen nicht erreichbar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Azure DevOps Server 2016 läuft ebenfalls on-premise bei der HZD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Eine Live-Anbindung von außen ist damit technisch ausgeschlossen. Ohne Ausnahme.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</a:rPr>
              <a:t>Was das nicht bedeutet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Die Keller-KI selbst funktioniert vollständig — sie braucht keinen Netzzugang zu diesen Systemen, um zu arbeiten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Nur der automatische Datenfluss in beide Richtungen entfällt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</a:rPr>
              <a:t>Der Vollausbau ist deshalb kein Antrag auf eine Firewall-Regel, sondern perspektivisch eine Kooperation mit der HZD.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Zwei Wege — mit und ohne HZD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402336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500" b="1">
                <a:solidFill>
                  <a:srgbClr val="007A33"/>
                </a:solidFill>
              </a:rPr>
              <a:t>Phase 1 — sofort startbar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Abhängig von der HZD:  nein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KI-Server läuft außerhalb des Hessennetzes,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in einem EU-Rechenzentrum, DSGVO-konform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Dokumente werden manuell exportiert und 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die Wissensdatenbank geladen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Alle Agenten laufen vollständig: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AWA-Assistent, Testfall-Generator,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Wissensassistent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Ergebnisse werden manuell in ADO eingetragen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— so wie heute, nur erheblich schneller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188720"/>
            <a:ext cx="402336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0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500" b="1">
                <a:solidFill>
                  <a:srgbClr val="E1001A"/>
                </a:solidFill>
              </a:rPr>
              <a:t>Phase 2 — Vollausbau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Abhängig von der HZD:  ja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KI-Server steht physisch im Hessennetz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Live-Zugriff auf Azure DevOps und SharePoint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in beide Richtungen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Mitarbeitende öffnen die KI direkt im Browser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am HessenPC — keine Installation nötig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Voraussetzung: eigener Serverraum beim HMKB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oder Kooperation mit der HZD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 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</a:rPr>
              <a:t>Zeitpunkt offen — politisch, nicht technisch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B63"/>
                </a:solidFill>
              </a:rPr>
              <a:t>Phase 1 liefert rund 80 % des Nutzens — und ist vollständig unabhängig lieferbar.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sich konkret ändert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3B63"/>
                </a:solidFill>
              </a:rPr>
              <a:t>Von der AWA zum Testfall — in 30 Sekunden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8229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200" b="1">
                <a:solidFill>
                  <a:srgbClr val="1F3B63"/>
                </a:solidFill>
              </a:rPr>
              <a:t>Schritt 1   ·   Mitarbeiterin öffnet die AWA in Azure DevOps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13432"/>
            <a:ext cx="8229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200" b="1">
                <a:solidFill>
                  <a:srgbClr val="1F3B63"/>
                </a:solidFill>
              </a:rPr>
              <a:t>Schritt 2   ·   Agent liest die AWA und die LUSD-Dokumente aus der Wissensdatenbank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35224"/>
            <a:ext cx="8229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200" b="1">
                <a:solidFill>
                  <a:srgbClr val="1F3B63"/>
                </a:solidFill>
              </a:rPr>
              <a:t>Schritt 3   ·   Agent erzeugt Normalfall, Sonderfall und Fehlerfall automatisch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57016"/>
            <a:ext cx="8229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200" b="1">
                <a:solidFill>
                  <a:srgbClr val="1F3B63"/>
                </a:solidFill>
              </a:rPr>
              <a:t>Schritt 4   ·   Mensch prüft das Ergebnis und gibt es frei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51960"/>
            <a:ext cx="39319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300" b="1">
                <a:solidFill>
                  <a:srgbClr val="595959"/>
                </a:solidFill>
              </a:rPr>
              <a:t>Heute:  2 – 3 Stunden händisch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251960"/>
            <a:ext cx="39319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l"/>
            <a:r>
              <a:rPr sz="1300" b="1">
                <a:solidFill>
                  <a:srgbClr val="007A33"/>
                </a:solidFill>
              </a:rPr>
              <a:t>Künftig:  30 Sekunden + Freigabe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Geprüft und verworfen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Diese Wege haben wir untersucht und wieder verworfen — der Vollständigkeit halber: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B63"/>
                </a:solidFill>
              </a:rPr>
              <a:t>Server bei der HZD aufstellen (Colocation)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</a:rPr>
              <a:t>Technisch elegant, politisch aussichtslos: fremder Server im eigenen Netz, den die HZD nicht kontrolliert. Dazu Präzedenzfall-Sorge und Eigeninteresse an eigener KI-Infrastruktur.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B63"/>
                </a:solidFill>
              </a:rPr>
              <a:t>Anbindung über Microsoft Azure / Service Principal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</a:rPr>
              <a:t>Würde funktionieren, wenn die Systeme in der Microsoft-Cloud lägen. Tun sie nicht — SharePoint und Azure DevOps Server 2016 laufen on-premise.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B63"/>
                </a:solidFill>
              </a:rPr>
              <a:t>KI lokal auf den Endgeräten installieren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</a:rPr>
              <a:t>Der HessenPC lässt keine Software-Installation zu. Ausgeschlossen.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B63"/>
                </a:solidFill>
              </a:rPr>
              <a:t>Zugriff über HessenAccess (VPN)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</a:rPr>
              <a:t>Interessant: Wer über HessenAccess verbunden ist, ist faktisch im Hessennetz und könnte einen internen KI-Server per Browser erreichen. Setzt aber Phase 2 voraus — der Server muss erst drin stehen.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Offene Fragen und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</a:rPr>
              <a:t>Zu klären mit dem HMKB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Hat das HMKB einen eigenen Serverraum mit Rack-Infrastruktur — oder läuft alles über die HZD?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Wer verwaltet die Microsoft-Tenants des HMKB: das Haus selbst oder die HZD?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Wer ist der IT-Ansprechpartner für dieses Vorhaben?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Besteht eine Ausschreibungspflicht?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Gibt es bereits eine KI-Nutzungsrichtlinie im Haus?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Wurde das Vorhaben mit dem Datenschutzbeauftragten besprochen?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Bis wann soll das Angebot vorliegen?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</a:rPr>
              <a:t>Vorschlag für das weitere Vorgehen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Entscheidung des Referats: Phase 1 starten, ohne auf die HZD zu warten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Parallel klären, ob Phase 2 mittelfristig realistisch ist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Nach den Antworten: verbindliches Angebot mit Zeitplan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Wir können sofort anfangen — ohne die HZD, innerhalb des Budgets, mit rund 80 % des Nutzens.</a:t>
            </a:r>
          </a:p>
          <a:p>
            <a:r>
              <a:t>Alles Weitere ist eine politische Entscheidung, keine technische.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Die Kernaussage in einem Satz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12</Words>
  <Application>Microsoft Office PowerPoint</Application>
  <PresentationFormat>Bildschirmpräsentation (16:9)</PresentationFormat>
  <Paragraphs>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ＭＳ Ｐゴシック</vt:lpstr>
      <vt:lpstr>Arial</vt:lpstr>
      <vt:lpstr>Courier New</vt:lpstr>
      <vt:lpstr>Symbol</vt:lpstr>
      <vt:lpstr>Wingdings</vt:lpstr>
      <vt:lpstr>HKM_GrunddesignPPT</vt:lpstr>
      <vt:lpstr>PowerPoint-Präsentation</vt:lpstr>
      <vt:lpstr>PowerPoint-Präsentation</vt:lpstr>
      <vt:lpstr>PowerPoint-Präsentation</vt:lpstr>
      <vt:lpstr>PowerPoint-Präsentation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Bonhoff, Sarah (HMKB)</cp:lastModifiedBy>
  <cp:revision>6</cp:revision>
  <dcterms:created xsi:type="dcterms:W3CDTF">2025-04-16T11:33:11Z</dcterms:created>
  <dcterms:modified xsi:type="dcterms:W3CDTF">2026-03-11T14:42:47Z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