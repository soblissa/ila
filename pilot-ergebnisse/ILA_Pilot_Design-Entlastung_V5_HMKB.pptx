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tmp" ContentType="image/pn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4"/>
  </p:sldMasterIdLst>
  <p:notesMasterIdLst>
    <p:notesMasterId r:id="rId13"/>
  </p:notesMasterIdLst>
  <p:sldIdLst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87"/>
    <a:srgbClr val="424178"/>
    <a:srgbClr val="C4323E"/>
    <a:srgbClr val="15468B"/>
    <a:srgbClr val="575F9B"/>
    <a:srgbClr val="C6313D"/>
    <a:srgbClr val="A3364D"/>
    <a:srgbClr val="683D67"/>
    <a:srgbClr val="C8313C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132" autoAdjust="0"/>
  </p:normalViewPr>
  <p:slideViewPr>
    <p:cSldViewPr>
      <p:cViewPr varScale="1">
        <p:scale>
          <a:sx n="140" d="100"/>
          <a:sy n="140" d="100"/>
        </p:scale>
        <p:origin x="92" y="24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0BC10CD-ACBC-4E28-8D0F-D6CF02DF84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7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kultus.hessen.de/" TargetMode="External"/><Relationship Id="rId3" Type="http://schemas.openxmlformats.org/officeDocument/2006/relationships/image" Target="../media/image1.tm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7" y="2029490"/>
            <a:ext cx="8890413" cy="31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175" y="250031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175" y="694135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" name="Rectangle 32"/>
          <p:cNvSpPr>
            <a:spLocks noChangeArrowheads="1"/>
          </p:cNvSpPr>
          <p:nvPr/>
        </p:nvSpPr>
        <p:spPr bwMode="auto">
          <a:xfrm>
            <a:off x="3175" y="1138237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3175" y="1582341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3" y="1488900"/>
            <a:ext cx="8477251" cy="525773"/>
          </a:xfrm>
        </p:spPr>
        <p:txBody>
          <a:bodyPr lIns="0" tIns="72000" rIns="0" bIns="0" anchor="t"/>
          <a:lstStyle>
            <a:lvl1pPr marL="0" indent="0">
              <a:lnSpc>
                <a:spcPts val="1800"/>
              </a:lnSpc>
              <a:spcAft>
                <a:spcPct val="0"/>
              </a:spcAft>
              <a:buFont typeface="Wingdings" pitchFamily="2" charset="2"/>
              <a:buNone/>
              <a:defRPr sz="1650"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7363" y="670322"/>
            <a:ext cx="8477251" cy="738188"/>
          </a:xfrm>
        </p:spPr>
        <p:txBody>
          <a:bodyPr lIns="0" rIns="0"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1587" y="2030015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253587" y="2026444"/>
            <a:ext cx="8898053" cy="3117057"/>
          </a:xfrm>
          <a:prstGeom prst="rect">
            <a:avLst/>
          </a:prstGeom>
          <a:gradFill flip="none" rotWithShape="1">
            <a:gsLst>
              <a:gs pos="73000">
                <a:srgbClr val="C9D2E9"/>
              </a:gs>
              <a:gs pos="45000">
                <a:srgbClr val="607DB6"/>
              </a:gs>
              <a:gs pos="9000">
                <a:srgbClr val="003087"/>
              </a:gs>
              <a:gs pos="100000">
                <a:srgbClr val="F6F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dirty="0" smtClean="0"/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53587" y="2026444"/>
            <a:ext cx="8890413" cy="3117056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6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70322"/>
            <a:ext cx="8497069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8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80D8169-47E9-4C41-A2C1-0ACE905247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29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30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5" y="1545432"/>
            <a:ext cx="8484370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foli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253587" y="692944"/>
            <a:ext cx="8890413" cy="918000"/>
          </a:xfrm>
          <a:prstGeom prst="rect">
            <a:avLst/>
          </a:prstGeom>
          <a:gradFill flip="none" rotWithShape="1">
            <a:gsLst>
              <a:gs pos="27000">
                <a:srgbClr val="6E89BD"/>
              </a:gs>
              <a:gs pos="0">
                <a:srgbClr val="003087"/>
              </a:gs>
              <a:gs pos="56000">
                <a:srgbClr val="CBD4EA"/>
              </a:gs>
              <a:gs pos="93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253586" y="1579960"/>
            <a:ext cx="8890413" cy="3203655"/>
          </a:xfrm>
          <a:prstGeom prst="rect">
            <a:avLst/>
          </a:prstGeom>
          <a:gradFill flip="none" rotWithShape="1">
            <a:gsLst>
              <a:gs pos="67000">
                <a:srgbClr val="C5CFE7"/>
              </a:gs>
              <a:gs pos="37500">
                <a:srgbClr val="5C7AB4"/>
              </a:gs>
              <a:gs pos="0">
                <a:srgbClr val="003087"/>
              </a:gs>
              <a:gs pos="94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6889" y="670322"/>
            <a:ext cx="8467724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26AF04E-2C42-4D7D-9FA6-0895B2147FE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2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3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3999" y="1582341"/>
            <a:ext cx="8447915" cy="320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 Box 7"/>
          <p:cNvSpPr txBox="1">
            <a:spLocks noChangeArrowheads="1"/>
          </p:cNvSpPr>
          <p:nvPr userDrawn="1"/>
        </p:nvSpPr>
        <p:spPr bwMode="auto">
          <a:xfrm>
            <a:off x="496889" y="18931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695"/>
                </a:solidFill>
              </a:rPr>
              <a:t>Hessisches</a:t>
            </a:r>
            <a:r>
              <a:rPr lang="de-DE" sz="1050" b="1" baseline="0" dirty="0">
                <a:solidFill>
                  <a:srgbClr val="003695"/>
                </a:solidFill>
              </a:rPr>
              <a:t> Ministerium </a:t>
            </a:r>
            <a:br>
              <a:rPr lang="de-DE" sz="1050" b="1" baseline="0" dirty="0">
                <a:solidFill>
                  <a:srgbClr val="003695"/>
                </a:solidFill>
              </a:rPr>
            </a:br>
            <a:r>
              <a:rPr lang="de-DE" sz="1050" b="0" baseline="0" dirty="0">
                <a:solidFill>
                  <a:srgbClr val="003695"/>
                </a:solidFill>
              </a:rPr>
              <a:t>für Kultus, Bildung und Chancen</a:t>
            </a:r>
            <a:endParaRPr lang="de-DE" sz="900" b="0" dirty="0">
              <a:solidFill>
                <a:srgbClr val="003695"/>
              </a:solidFill>
            </a:endParaRPr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2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9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17" name="Grafik 16" descr="Bildschirmausschnitt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2DC49A-64FA-4C3F-80F3-AF205E2A1F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16016" y="1545637"/>
            <a:ext cx="424008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467544" y="1545637"/>
            <a:ext cx="415222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39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51A07-1F74-4A98-82D5-CBD0DE5164A2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7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5" y="689263"/>
            <a:ext cx="8882955" cy="411473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1FF7AE-E47F-48DC-9035-E2B5C6B7102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37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9BE8-06FC-498B-A6B6-27E04BB94BBC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0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BC6915-E11F-44E2-A087-31E6B6A359CE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509918"/>
            <a:ext cx="3008313" cy="3240360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1" y="737379"/>
            <a:ext cx="3011438" cy="605284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326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5C73B-8746-43D2-B2DF-264E9B26874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347614"/>
            <a:ext cx="3008313" cy="3384376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0" y="734973"/>
            <a:ext cx="3011438" cy="504057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7964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hyperlink" Target="https://kultus.hessen.de/" TargetMode="External"/><Relationship Id="rId15" Type="http://schemas.openxmlformats.org/officeDocument/2006/relationships/image" Target="../media/image1.tm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670322"/>
            <a:ext cx="8432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339" y="1545432"/>
            <a:ext cx="8410575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496889" y="19572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3175" y="250031"/>
            <a:ext cx="252207" cy="1995488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5" name="Grafik 4" descr="Bildschirmausschnitt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88" r:id="rId3"/>
    <p:sldLayoutId id="2147483670" r:id="rId4"/>
    <p:sldLayoutId id="2147483666" r:id="rId5"/>
    <p:sldLayoutId id="2147483676" r:id="rId6"/>
    <p:sldLayoutId id="2147483677" r:id="rId7"/>
    <p:sldLayoutId id="2147483680" r:id="rId8"/>
    <p:sldLayoutId id="2147483687" r:id="rId9"/>
    <p:sldLayoutId id="2147483682" r:id="rId10"/>
    <p:sldLayoutId id="2147483678" r:id="rId11"/>
    <p:sldLayoutId id="214748368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9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95536" y="2211710"/>
            <a:ext cx="8435975" cy="525773"/>
          </a:xfrm>
        </p:spPr>
        <p:txBody>
          <a:bodyPr/>
          <a:lstStyle/>
          <a:p>
            <a:pPr/>
            <a:r>
              <a:t>Von Reibung zu Wirkung: Pilot zur Beschleunigung des Designs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>
          <a:xfrm>
            <a:off x="323528" y="1203598"/>
            <a:ext cx="7688212" cy="742950"/>
          </a:xfrm>
        </p:spPr>
        <p:txBody>
          <a:bodyPr/>
          <a:lstStyle/>
          <a:p>
            <a:r>
              <a:t>ila schneller machen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Ausgangslage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Hohe Komplexität und Reibung zwischen Fachlichkeit und Design</a:t>
            </a:r>
          </a:p>
          <a:p>
            <a:pPr/>
            <a:r>
              <a:t>Wiederkehrende Standardscreens (z. B. Formular-, Listen- und Detailansichten) binden viel Designkapazität</a:t>
            </a:r>
          </a:p>
          <a:p>
            <a:pPr/>
            <a:r>
              <a:t>Iterationen dauern zu lange</a:t>
            </a:r>
          </a:p>
          <a:p>
            <a:pPr/>
            <a:r>
              <a:t>Angespannte Ressourcenlage bei hohem Stakeholder-Druck</a:t>
            </a:r>
          </a:p>
          <a:p>
            <a:pPr/>
            <a:r>
              <a:t>Design ist aktueller Flaschenhals der Produktentwicklung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Vorschlag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Pilotversuch in kontrolliertem technischem Setup.</a:t>
            </a:r>
          </a:p>
          <a:p>
            <a:pPr/>
            <a:r>
              <a:t>Klare Governance für Datenschutz, Rollen und Freigaben.</a:t>
            </a:r>
          </a:p>
          <a:p>
            <a:pPr/>
            <a:r>
              <a:t>Agent erstellt Figma-Erstentwürfe auf Basis definierter Designspezifikationen.</a:t>
            </a:r>
          </a:p>
          <a:p>
            <a:pPr/>
            <a:r>
              <a:t>Fokus auf aktuelles Teilziel: BSLRR (besondere Schwierigkeiten im Lesen, Rechtschreiben und Rechnen).</a:t>
            </a:r>
          </a:p>
          <a:p>
            <a:pPr/>
            <a:r>
              <a:t>Mensch bleibt für Entscheidung und Freigabe verantwortlich.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Pilot-Setup (4 Wochen)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Voraussetzung: Definierte Designspezifikationen und Referenzscreens liegen vor.</a:t>
            </a:r>
          </a:p>
          <a:p>
            <a:pPr/>
            <a:r>
              <a:t>Setup: Kontrollierter technischer Rahmen mit klarer Governance (Datenschutz, Rollen, Freigaben und Verantwortlichkeiten).</a:t>
            </a:r>
          </a:p>
          <a:p>
            <a:pPr/>
            <a:r>
              <a:t>Scope: 1 bis 2 Seitentypen mit Fokus auf BSLRR.</a:t>
            </a:r>
          </a:p>
          <a:p>
            <a:pPr/>
            <a:r>
              <a:t>Rollen: Fachseite (Sebastian Felgenhauer), Technik (Markus Deibel) und Projektleitung (Sarah Bonhoff).</a:t>
            </a:r>
          </a:p>
          <a:p>
            <a:pPr/>
            <a:r>
              <a:t>Ablauf: Fachliche Anforderung aufnehmen und schärfen -&gt; Figma-Erstentwurf auf Basis der Designspezifikation erstellen -&gt; Review mit dem gesamten ILA-Team.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Erfolgsmessung (im Agententeam)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Agentenzeit pro Entwurf (reine Lauf-/Erstellzeit des Agenten).</a:t>
            </a:r>
          </a:p>
          <a:p>
            <a:pPr/>
            <a:r>
              <a:t>Time-to-First-Draft (Anforderung bis erster belastbarer Figma-Entwurf).</a:t>
            </a:r>
          </a:p>
          <a:p>
            <a:pPr/>
            <a:r>
              <a:t>End-to-End-Zeit pro Screen (Anforderung bis reviewfähiger Entwurf).</a:t>
            </a:r>
          </a:p>
          <a:p>
            <a:pPr/>
            <a:r>
              <a:t>Rework-Aufwand (Anzahl und Dauer der Korrekturschleifen).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Pilotrisiken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Risiko 1: Der Test zeigt, dass Agenteneinsatz im aktuellen Rahmen nicht realisierbar ist.</a:t>
            </a:r>
          </a:p>
          <a:p>
            <a:pPr/>
            <a:r>
              <a:t>Mögliche Ursachen: unklare Designspezifikation, zu viele Sonderfälle, instabile Mitwirkung im Pilotprozess.</a:t>
            </a:r>
          </a:p>
          <a:p>
            <a:pPr/>
            <a:r>
              <a:t>Risiko 2: Arbeitszeit von Sebastian Felgenhauer, Markus Deibel und Sarah Bonhoff wird gebunden, ohne verwertbaren Mehrwert.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Pilotziele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Machbarkeitsprüfung: Ist Agenteneinsatz als Ergänzung zur Designrolle im Projekt tragfähig?</a:t>
            </a:r>
          </a:p>
          <a:p>
            <a:pPr/>
            <a:r>
              <a:t>Evaluierung: Welchen konkreten Nutzen bringt der Ansatz im Pilotbetrieb?</a:t>
            </a:r>
          </a:p>
          <a:p>
            <a:pPr/>
            <a:r>
              <a:t>Skalierungspotential: In welchem Umfang ist ein Rollout sinnvoll und realistisch?</a:t>
            </a:r>
          </a:p>
          <a:p>
            <a:pPr/>
            <a:r>
              <a:t>Bereitstellung einer Entscheidungsvorlage: Klare Grundlage für die weitere Entscheidung nach Pilotabschluss.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Entscheidung heute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 für 4 Wochen freigeben</a:t>
            </a:r>
          </a:p>
          <a:p>
            <a:r>
              <a:t>Seitentypen und Verantwortliche festlegen</a:t>
            </a:r>
          </a:p>
          <a:p>
            <a:r>
              <a:t>Go/No-Go Termin am Pilotende setzen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57EFD54097B4438E7A80F3D1373265" ma:contentTypeVersion="1" ma:contentTypeDescription="Ein neues Dokument erstellen." ma:contentTypeScope="" ma:versionID="834bd551b14fcde88a9c6a4a0bf530df">
  <xsd:schema xmlns:xsd="http://www.w3.org/2001/XMLSchema" xmlns:xs="http://www.w3.org/2001/XMLSchema" xmlns:p="http://schemas.microsoft.com/office/2006/metadata/properties" xmlns:ns2="8637de2c-6bc0-411d-bf65-aa36b7f9c66d" targetNamespace="http://schemas.microsoft.com/office/2006/metadata/properties" ma:root="true" ma:fieldsID="e455fcda4cde3aa6122f413ba46336a9" ns2:_="">
    <xsd:import namespace="8637de2c-6bc0-411d-bf65-aa36b7f9c66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0017A1-94BC-4394-9852-7E0A4C91927E}">
  <ds:schemaRefs>
    <ds:schemaRef ds:uri="http://purl.org/dc/terms/"/>
    <ds:schemaRef ds:uri="8637de2c-6bc0-411d-bf65-aa36b7f9c66d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D209D72-484E-46E5-8AF5-E4C907679F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B246F-A24C-4FF5-9599-4E67AE3D4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37de2c-6bc0-411d-bf65-aa36b7f9c6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hmkb-folienvorlage_16zu9</Template>
  <TotalTime>0</TotalTime>
  <Words>131</Words>
  <Application>Microsoft Office PowerPoint</Application>
  <PresentationFormat>Bildschirmpräsentation (16:9)</PresentationFormat>
  <Paragraphs>30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ＭＳ Ｐゴシック</vt:lpstr>
      <vt:lpstr>Arial</vt:lpstr>
      <vt:lpstr>Courier New</vt:lpstr>
      <vt:lpstr>Symbol</vt:lpstr>
      <vt:lpstr>Wingdings</vt:lpstr>
      <vt:lpstr>HKM_GrunddesignPPT</vt:lpstr>
      <vt:lpstr>ila schneller machen</vt:lpstr>
      <vt:lpstr>Ausgangslage</vt:lpstr>
      <vt:lpstr>Vorschlag</vt:lpstr>
      <vt:lpstr>Pilot-Setup (4 Wochen)</vt:lpstr>
      <vt:lpstr>Erfolgsmessung</vt:lpstr>
      <vt:lpstr>Risiken und Absicherung</vt:lpstr>
      <vt:lpstr>Nicht-Ziele</vt:lpstr>
      <vt:lpstr>Entscheidung heute</vt:lpstr>
    </vt:vector>
  </TitlesOfParts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Titelfolie – Standard</dc:title>
  <dc:creator>Rheingans, Kerstin (HMKB)</dc:creator>
  <cp:lastModifiedBy>Sarah Bonhoff - Kuubera UG</cp:lastModifiedBy>
  <cp:revision>7</cp:revision>
  <dcterms:created xsi:type="dcterms:W3CDTF">2025-04-16T11:33:11Z</dcterms:created>
  <dcterms:modified xsi:type="dcterms:W3CDTF">2026-03-11T16:30:42Z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0x0101000057EFD54097B4438E7A80F3D1373265</vt:lpwstr>
  </property>
</Properties>
</file>