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tmp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4" r:id="rId4"/>
  </p:sldMasterIdLst>
  <p:notesMasterIdLst>
    <p:notesMasterId r:id="rId9"/>
  </p:notesMasterIdLst>
  <p:sldIdLst>
    <p:sldId id="256" r:id="rId8"/>
    <p:sldId id="257" r:id="rId7"/>
    <p:sldId id="258" r:id="rId6"/>
    <p:sldId id="259" r:id="rId5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9144000" cy="5143500" type="screen16x9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087"/>
    <a:srgbClr val="424178"/>
    <a:srgbClr val="C4323E"/>
    <a:srgbClr val="15468B"/>
    <a:srgbClr val="575F9B"/>
    <a:srgbClr val="C6313D"/>
    <a:srgbClr val="A3364D"/>
    <a:srgbClr val="683D67"/>
    <a:srgbClr val="C8313C"/>
    <a:srgbClr val="1E45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2132" autoAdjust="0"/>
  </p:normalViewPr>
  <p:slideViewPr>
    <p:cSldViewPr>
      <p:cViewPr varScale="1">
        <p:scale>
          <a:sx n="80" d="100"/>
          <a:sy n="80" d="100"/>
        </p:scale>
        <p:origin x="832" y="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97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297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97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50BC10CD-ACBC-4E28-8D0F-D6CF02DF846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07388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Wir sprechen über eine KI, die dem HMKB gehört und im eigenen Haus läuft. Kein Cloud-Dienst, keine Daten bei Dritten. Die zentrale Frage ist nicht 'geht das technisch', sondern 'wie weit kommen wir ohne die HZD'.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nicht mit Technik einsteigen. Der Schmerz ist bekannt — händische Testfälle und Doku. Für den Pilot sind zwei Fragen zu trennen: Er braucht keine Live-Anbindung an ADO oder SharePoint. Der Zugriff vom HessenPC auf eine extern betriebene Webanwendung muss aber vorab technisch und organisatorisch bestätigt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Open-Weight-Modell ist das sprachliche Gehirn und läuft auf dem Server. Open WebUI ist die zentrale Weboberfläche. Berechtigte pflegen dort freigegebene Dokumente in die Wissensbasis ein; die Dokumente werden serverseitig für die Suche aufbereitet. Nutzende melden sich an und wählen einen vorkonfigurierten Assistenten. Keine Installation am HessenPC ist nötig. Entscheidend ist jedoch, ob die externe HTTPS-Adresse erreichbar und der Dokumentenupload zulässig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Mistral ist die politisch und rechtlich sauberste Wahl: EU-Anbieter, freie Apache-Lizenz. Qwen ist qualitativ besser, kommt aber aus China — das kann in der Behörde eine Diskussion auslösen. Deshalb: beide installieren, Referat entscheidet nach eigenem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Lizenzkosten, weil der gesamte Software-Stack Open Source ist. Der größte Posten ist Arbeitszeit, nicht Technik. Nach zwei Jahren gehört die Hardware dem HMKB — keine wiederkehrende Abo-Gebühr.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die Folie, auf der die ehrliche Einordnung passiert. Nicht beschönigen: eine einfache Netzwerkfreigabe ist es nicht. Auch kleine Freigaben durchlaufen bei der HZD lange Genehmigungsprozesse — IT-Sicherheitskonzept, Datenschutzfolgeabschätzung. Beantragen heißt nicht durchsetzen. Deshalb bauen wir Phase 1 so, dass sie ohne die HZD trägt.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der Präsentation. Phase 1 braucht keine Live-Verbindung zu ADO oder SharePoint. Sie ist aber nur am HessenPC nutzbar, wenn die externe, authentifizierte HTTPS-Webadresse erreichbar ist und der Datei-Upload erlaubt wird. Phase 2 bleibt ein Ziel und erfordert die HZD.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Konkretes Beispiel statt abstrakter Nutzenversprechen. Wichtig betonen: Der Mensch prüft und gibt frei. Die KI ersetzt niemanden, sie nimmt die stumpfe Vorarbeit ab. Dieser Anwendungsfall funktioniert auch in Phase 1 — die AWA wird dann exportiert statt live gelesen.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Folie schafft Vertrauen. Sie zeigt: wir haben nicht nur einen Weg gefunden, sondern vier geprüft. Wer im Referat kritisch ist, findet hier seine Einwände bereits behandelt.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 mit einer konkreten Klärungs- und Entscheidungsfolge. Das Referat soll Phase 2 heute nicht beschließen. Vor einer Entscheidung über Phase 1 muss der Zugriff vom HessenPC auf die externe Webanwendung bestätigt sein.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Schlussfolie. Bewusst kurz halten und stehen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kultus.hessen.de/" TargetMode="External"/><Relationship Id="rId3" Type="http://schemas.openxmlformats.org/officeDocument/2006/relationships/image" Target="../media/image1.tmp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" name="Grafik 2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87" y="2029490"/>
            <a:ext cx="8890413" cy="3114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47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7"/>
          <p:cNvSpPr txBox="1">
            <a:spLocks noChangeArrowheads="1"/>
          </p:cNvSpPr>
          <p:nvPr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sp>
        <p:nvSpPr>
          <p:cNvPr id="6" name="Rectangle 30"/>
          <p:cNvSpPr>
            <a:spLocks noChangeArrowheads="1"/>
          </p:cNvSpPr>
          <p:nvPr/>
        </p:nvSpPr>
        <p:spPr bwMode="auto">
          <a:xfrm>
            <a:off x="3175" y="250031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7" name="Rectangle 31"/>
          <p:cNvSpPr>
            <a:spLocks noChangeArrowheads="1"/>
          </p:cNvSpPr>
          <p:nvPr/>
        </p:nvSpPr>
        <p:spPr bwMode="auto">
          <a:xfrm>
            <a:off x="3175" y="694135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8" name="Rectangle 32"/>
          <p:cNvSpPr>
            <a:spLocks noChangeArrowheads="1"/>
          </p:cNvSpPr>
          <p:nvPr/>
        </p:nvSpPr>
        <p:spPr bwMode="auto">
          <a:xfrm>
            <a:off x="3175" y="1138237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9" name="Rectangle 33"/>
          <p:cNvSpPr>
            <a:spLocks noChangeArrowheads="1"/>
          </p:cNvSpPr>
          <p:nvPr/>
        </p:nvSpPr>
        <p:spPr bwMode="auto">
          <a:xfrm>
            <a:off x="3175" y="1582341"/>
            <a:ext cx="252000" cy="215503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3" y="1488900"/>
            <a:ext cx="8477251" cy="525773"/>
          </a:xfrm>
        </p:spPr>
        <p:txBody>
          <a:bodyPr lIns="0" tIns="72000" rIns="0" bIns="0" anchor="t"/>
          <a:lstStyle>
            <a:lvl1pPr marL="0" indent="0">
              <a:lnSpc>
                <a:spcPts val="1800"/>
              </a:lnSpc>
              <a:spcAft>
                <a:spcPct val="0"/>
              </a:spcAft>
              <a:buFont typeface="Wingdings" pitchFamily="2" charset="2"/>
              <a:buNone/>
              <a:defRPr sz="1650"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87363" y="670322"/>
            <a:ext cx="8477251" cy="738188"/>
          </a:xfrm>
        </p:spPr>
        <p:txBody>
          <a:bodyPr lIns="0" rIns="0"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" name="Rectangle 34"/>
          <p:cNvSpPr>
            <a:spLocks noChangeArrowheads="1"/>
          </p:cNvSpPr>
          <p:nvPr/>
        </p:nvSpPr>
        <p:spPr bwMode="auto">
          <a:xfrm>
            <a:off x="1587" y="2030015"/>
            <a:ext cx="252000" cy="215504"/>
          </a:xfrm>
          <a:prstGeom prst="rect">
            <a:avLst/>
          </a:prstGeom>
          <a:solidFill>
            <a:srgbClr val="DB2F36"/>
          </a:solidFill>
          <a:ln w="9525">
            <a:solidFill>
              <a:srgbClr val="DB2F36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de-DE"/>
          </a:p>
        </p:txBody>
      </p:sp>
      <p:sp>
        <p:nvSpPr>
          <p:cNvPr id="16" name="Rechteck 15"/>
          <p:cNvSpPr/>
          <p:nvPr userDrawn="1"/>
        </p:nvSpPr>
        <p:spPr>
          <a:xfrm>
            <a:off x="253587" y="2026444"/>
            <a:ext cx="8898053" cy="3117057"/>
          </a:xfrm>
          <a:prstGeom prst="rect">
            <a:avLst/>
          </a:prstGeom>
          <a:gradFill flip="none" rotWithShape="1">
            <a:gsLst>
              <a:gs pos="73000">
                <a:srgbClr val="C9D2E9"/>
              </a:gs>
              <a:gs pos="45000">
                <a:srgbClr val="607DB6"/>
              </a:gs>
              <a:gs pos="9000">
                <a:srgbClr val="003087"/>
              </a:gs>
              <a:gs pos="100000">
                <a:srgbClr val="F6F6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526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- mit eigenem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487362" y="1484487"/>
            <a:ext cx="8435975" cy="525773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72000" rIns="0" bIns="0" numCol="1" anchor="t" anchorCtr="0" compatLnSpc="1">
            <a:prstTxWarp prst="textNoShape">
              <a:avLst/>
            </a:prstTxWarp>
          </a:bodyPr>
          <a:lstStyle>
            <a:lvl1pPr marL="0" indent="0">
              <a:buNone/>
              <a:defRPr lang="de-DE" sz="1650" noProof="0" dirty="0" smtClean="0"/>
            </a:lvl1pPr>
          </a:lstStyle>
          <a:p>
            <a:pPr marL="257175" lvl="0" indent="-257175">
              <a:lnSpc>
                <a:spcPts val="1800"/>
              </a:lnSpc>
              <a:spcAft>
                <a:spcPct val="0"/>
              </a:spcAft>
            </a:pPr>
            <a:r>
              <a:rPr lang="de-DE" noProof="0"/>
              <a:t>Master-Untertitelformat bearbeiten</a:t>
            </a:r>
            <a:endParaRPr lang="de-DE" noProof="0" dirty="0"/>
          </a:p>
        </p:txBody>
      </p:sp>
      <p:sp>
        <p:nvSpPr>
          <p:cNvPr id="12329" name="Rectangle 41"/>
          <p:cNvSpPr>
            <a:spLocks noGrp="1" noChangeArrowheads="1"/>
          </p:cNvSpPr>
          <p:nvPr>
            <p:ph type="ctrTitle" sz="quarter"/>
          </p:nvPr>
        </p:nvSpPr>
        <p:spPr>
          <a:xfrm>
            <a:off x="484188" y="673663"/>
            <a:ext cx="7688212" cy="742950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defRPr lang="de-DE" noProof="0" dirty="0" smtClean="0">
                <a:solidFill>
                  <a:srgbClr val="003087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7" name="Text Box 7"/>
          <p:cNvSpPr txBox="1">
            <a:spLocks noChangeArrowheads="1"/>
          </p:cNvSpPr>
          <p:nvPr userDrawn="1"/>
        </p:nvSpPr>
        <p:spPr bwMode="auto">
          <a:xfrm>
            <a:off x="496889" y="195719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14" name="Gruppieren 1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1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8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19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23" name="Grafik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54935" y="250033"/>
            <a:ext cx="509553" cy="65960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253587" y="2026444"/>
            <a:ext cx="8890413" cy="3117056"/>
          </a:xfrm>
        </p:spPr>
        <p:txBody>
          <a:bodyPr anchor="b"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6007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-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7544" y="670322"/>
            <a:ext cx="8497069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8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80D8169-47E9-4C41-A2C1-0ACE905247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29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30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3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67545" y="1545432"/>
            <a:ext cx="8484370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043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ndardfolie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253587" y="692944"/>
            <a:ext cx="8890413" cy="918000"/>
          </a:xfrm>
          <a:prstGeom prst="rect">
            <a:avLst/>
          </a:prstGeom>
          <a:gradFill flip="none" rotWithShape="1">
            <a:gsLst>
              <a:gs pos="27000">
                <a:srgbClr val="6E89BD"/>
              </a:gs>
              <a:gs pos="0">
                <a:srgbClr val="003087"/>
              </a:gs>
              <a:gs pos="56000">
                <a:srgbClr val="CBD4EA"/>
              </a:gs>
              <a:gs pos="93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/>
          <p:cNvSpPr/>
          <p:nvPr userDrawn="1"/>
        </p:nvSpPr>
        <p:spPr>
          <a:xfrm>
            <a:off x="253586" y="1579960"/>
            <a:ext cx="8890413" cy="3203655"/>
          </a:xfrm>
          <a:prstGeom prst="rect">
            <a:avLst/>
          </a:prstGeom>
          <a:gradFill flip="none" rotWithShape="1">
            <a:gsLst>
              <a:gs pos="67000">
                <a:srgbClr val="C5CFE7"/>
              </a:gs>
              <a:gs pos="37500">
                <a:srgbClr val="5C7AB4"/>
              </a:gs>
              <a:gs pos="0">
                <a:srgbClr val="003087"/>
              </a:gs>
              <a:gs pos="94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6889" y="670322"/>
            <a:ext cx="8467724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Rectangle 19"/>
          <p:cNvSpPr>
            <a:spLocks noGrp="1" noChangeArrowheads="1"/>
          </p:cNvSpPr>
          <p:nvPr>
            <p:ph type="dt" sz="quarter" idx="10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 anchor="b" anchorCtr="0"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826AF04E-2C42-4D7D-9FA6-0895B2147FE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2" name="Rectangle 20"/>
          <p:cNvSpPr>
            <a:spLocks noGrp="1" noChangeArrowheads="1"/>
          </p:cNvSpPr>
          <p:nvPr>
            <p:ph type="ftr" sz="quarter" idx="11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 anchor="b" anchorCtr="0"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3" name="Rectangle 2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23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3999" y="1582341"/>
            <a:ext cx="8447915" cy="32039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buClr>
                <a:srgbClr val="003087"/>
              </a:buClr>
              <a:defRPr/>
            </a:lvl1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5" name="Text Box 7"/>
          <p:cNvSpPr txBox="1">
            <a:spLocks noChangeArrowheads="1"/>
          </p:cNvSpPr>
          <p:nvPr userDrawn="1"/>
        </p:nvSpPr>
        <p:spPr bwMode="auto">
          <a:xfrm>
            <a:off x="496889" y="18931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695"/>
                </a:solidFill>
              </a:rPr>
              <a:t>Hessisches</a:t>
            </a:r>
            <a:r>
              <a:rPr lang="de-DE" sz="1050" b="1" baseline="0" dirty="0">
                <a:solidFill>
                  <a:srgbClr val="003695"/>
                </a:solidFill>
              </a:rPr>
              <a:t> Ministerium </a:t>
            </a:r>
            <a:br>
              <a:rPr lang="de-DE" sz="1050" b="1" baseline="0" dirty="0">
                <a:solidFill>
                  <a:srgbClr val="003695"/>
                </a:solidFill>
              </a:rPr>
            </a:br>
            <a:r>
              <a:rPr lang="de-DE" sz="1050" b="0" baseline="0" dirty="0">
                <a:solidFill>
                  <a:srgbClr val="003695"/>
                </a:solidFill>
              </a:rPr>
              <a:t>für Kultus, Bildung und Chancen</a:t>
            </a:r>
            <a:endParaRPr lang="de-DE" sz="900" b="0" dirty="0">
              <a:solidFill>
                <a:srgbClr val="003695"/>
              </a:solidFill>
            </a:endParaRPr>
          </a:p>
        </p:txBody>
      </p:sp>
      <p:grpSp>
        <p:nvGrpSpPr>
          <p:cNvPr id="24" name="Gruppieren 23"/>
          <p:cNvGrpSpPr/>
          <p:nvPr userDrawn="1"/>
        </p:nvGrpSpPr>
        <p:grpSpPr>
          <a:xfrm>
            <a:off x="1587" y="250031"/>
            <a:ext cx="253588" cy="1995488"/>
            <a:chOff x="1587" y="250031"/>
            <a:chExt cx="253588" cy="1995488"/>
          </a:xfrm>
        </p:grpSpPr>
        <p:sp>
          <p:nvSpPr>
            <p:cNvPr id="26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7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8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9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30" name="Rectangle 34"/>
            <p:cNvSpPr>
              <a:spLocks noChangeArrowheads="1"/>
            </p:cNvSpPr>
            <p:nvPr userDrawn="1"/>
          </p:nvSpPr>
          <p:spPr bwMode="auto">
            <a:xfrm>
              <a:off x="1587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17" name="Grafik 16" descr="Bildschirmausschnitt">
            <a:hlinkClick r:id="rId2"/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099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>
            <a:lvl1pPr>
              <a:defRPr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2DC49A-64FA-4C3F-80F3-AF205E2A1F9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4716016" y="1545637"/>
            <a:ext cx="424008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Rectangle 3"/>
          <p:cNvSpPr>
            <a:spLocks noGrp="1" noChangeArrowheads="1"/>
          </p:cNvSpPr>
          <p:nvPr>
            <p:ph idx="13"/>
          </p:nvPr>
        </p:nvSpPr>
        <p:spPr bwMode="auto">
          <a:xfrm>
            <a:off x="467544" y="1545637"/>
            <a:ext cx="4152223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6393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nur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7544" y="670322"/>
            <a:ext cx="8497069" cy="7381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870C90F2-01D9-4AA5-A85C-27A63631B086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343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ohne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48251A07-1F74-4A98-82D5-CBD0DE5164A2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8762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45" y="689263"/>
            <a:ext cx="8882955" cy="4114735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261FF7AE-E47F-48DC-9035-E2B5C6B71021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3715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o-Folie - schl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52FB9BE8-06FC-498B-A6B6-27E04BB94BBC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44208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7ABC6915-E11F-44E2-A087-31E6B6A359CE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509918"/>
            <a:ext cx="3008313" cy="3240360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1" y="737379"/>
            <a:ext cx="3011438" cy="605284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3265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zweigeteilt mit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/>
          <p:nvPr userDrawn="1"/>
        </p:nvSpPr>
        <p:spPr>
          <a:xfrm>
            <a:off x="251520" y="690891"/>
            <a:ext cx="8892480" cy="4102075"/>
          </a:xfrm>
          <a:prstGeom prst="rect">
            <a:avLst/>
          </a:prstGeom>
          <a:gradFill flip="none" rotWithShape="1">
            <a:gsLst>
              <a:gs pos="62000">
                <a:srgbClr val="B2C0DE"/>
              </a:gs>
              <a:gs pos="24000">
                <a:srgbClr val="345AA1"/>
              </a:gs>
              <a:gs pos="0">
                <a:srgbClr val="003087"/>
              </a:gs>
              <a:gs pos="95000">
                <a:srgbClr val="F6F6FF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fld id="{3D85C73B-8746-43D2-B2DF-264E9B26874F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82B18D-C707-4786-8163-FFCD341314AB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3707904" y="685800"/>
            <a:ext cx="5256584" cy="4046190"/>
          </a:xfrm>
        </p:spPr>
        <p:txBody>
          <a:bodyPr>
            <a:normAutofit/>
          </a:bodyPr>
          <a:lstStyle>
            <a:lvl1pPr eaLnBrk="1" latinLnBrk="0" hangingPunct="1">
              <a:defRPr kumimoji="0" lang="de-DE" sz="1800"/>
            </a:lvl1pPr>
            <a:lvl2pPr eaLnBrk="1" latinLnBrk="0" hangingPunct="1">
              <a:defRPr kumimoji="0" lang="de-DE" sz="1500"/>
            </a:lvl2pPr>
            <a:lvl3pPr eaLnBrk="1" latinLnBrk="0" hangingPunct="1">
              <a:defRPr kumimoji="0" lang="de-DE" sz="1350"/>
            </a:lvl3pPr>
            <a:lvl4pPr eaLnBrk="1" latinLnBrk="0" hangingPunct="1">
              <a:defRPr kumimoji="0" lang="de-DE" sz="1200"/>
            </a:lvl4pPr>
            <a:lvl5pPr eaLnBrk="1" latinLnBrk="0" hangingPunct="1">
              <a:defRPr kumimoji="0" lang="de-DE" sz="1200"/>
            </a:lvl5pPr>
            <a:lvl6pPr eaLnBrk="1" latinLnBrk="0" hangingPunct="1">
              <a:defRPr kumimoji="0" lang="de-DE" sz="1500"/>
            </a:lvl6pPr>
            <a:lvl7pPr eaLnBrk="1" latinLnBrk="0" hangingPunct="1">
              <a:defRPr kumimoji="0" lang="de-DE" sz="1500"/>
            </a:lvl7pPr>
            <a:lvl8pPr eaLnBrk="1" latinLnBrk="0" hangingPunct="1">
              <a:defRPr kumimoji="0" lang="de-DE" sz="1500"/>
            </a:lvl8pPr>
            <a:lvl9pPr eaLnBrk="1" latinLnBrk="0" hangingPunct="1">
              <a:defRPr kumimoji="0" lang="de-DE" sz="1500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555576" y="1347614"/>
            <a:ext cx="3008313" cy="3384376"/>
          </a:xfrm>
        </p:spPr>
        <p:txBody>
          <a:bodyPr/>
          <a:lstStyle>
            <a:lvl1pPr marL="0" indent="0" eaLnBrk="1" latinLnBrk="0" hangingPunct="1">
              <a:buNone/>
              <a:defRPr kumimoji="0" lang="de-DE" sz="1050"/>
            </a:lvl1pPr>
            <a:lvl2pPr marL="342900" indent="0" eaLnBrk="1" latinLnBrk="0" hangingPunct="1">
              <a:buNone/>
              <a:defRPr kumimoji="0" lang="de-DE" sz="900"/>
            </a:lvl2pPr>
            <a:lvl3pPr marL="685800" indent="0" eaLnBrk="1" latinLnBrk="0" hangingPunct="1">
              <a:buNone/>
              <a:defRPr kumimoji="0" lang="de-DE" sz="750"/>
            </a:lvl3pPr>
            <a:lvl4pPr marL="1028700" indent="0" eaLnBrk="1" latinLnBrk="0" hangingPunct="1">
              <a:buNone/>
              <a:defRPr kumimoji="0" lang="de-DE" sz="675"/>
            </a:lvl4pPr>
            <a:lvl5pPr marL="1371600" indent="0" eaLnBrk="1" latinLnBrk="0" hangingPunct="1">
              <a:buNone/>
              <a:defRPr kumimoji="0" lang="de-DE" sz="675"/>
            </a:lvl5pPr>
            <a:lvl6pPr marL="1714500" indent="0" eaLnBrk="1" latinLnBrk="0" hangingPunct="1">
              <a:buNone/>
              <a:defRPr kumimoji="0" lang="de-DE" sz="675"/>
            </a:lvl6pPr>
            <a:lvl7pPr marL="2057400" indent="0" eaLnBrk="1" latinLnBrk="0" hangingPunct="1">
              <a:buNone/>
              <a:defRPr kumimoji="0" lang="de-DE" sz="675"/>
            </a:lvl7pPr>
            <a:lvl8pPr marL="2400300" indent="0" eaLnBrk="1" latinLnBrk="0" hangingPunct="1">
              <a:buNone/>
              <a:defRPr kumimoji="0" lang="de-DE" sz="675"/>
            </a:lvl8pPr>
            <a:lvl9pPr marL="2743200" indent="0" eaLnBrk="1" latinLnBrk="0" hangingPunct="1">
              <a:buNone/>
              <a:defRPr kumimoji="0" lang="de-DE" sz="675"/>
            </a:lvl9pPr>
          </a:lstStyle>
          <a:p>
            <a:pPr lvl="0" eaLnBrk="1" latinLnBrk="0" hangingPunct="1"/>
            <a:r>
              <a:rPr lang="de-DE"/>
              <a:t>Mastertextformat bearbeiten</a:t>
            </a:r>
          </a:p>
        </p:txBody>
      </p:sp>
      <p:sp>
        <p:nvSpPr>
          <p:cNvPr id="10" name="Titel 1"/>
          <p:cNvSpPr>
            <a:spLocks noGrp="1"/>
          </p:cNvSpPr>
          <p:nvPr>
            <p:ph type="title"/>
          </p:nvPr>
        </p:nvSpPr>
        <p:spPr>
          <a:xfrm>
            <a:off x="552450" y="734973"/>
            <a:ext cx="3011438" cy="504057"/>
          </a:xfrm>
        </p:spPr>
        <p:txBody>
          <a:bodyPr anchor="t"/>
          <a:lstStyle>
            <a:lvl1pPr>
              <a:defRPr sz="1350">
                <a:solidFill>
                  <a:srgbClr val="003087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97964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hyperlink" Target="https://kultus.hessen.de/" TargetMode="External"/><Relationship Id="rId15" Type="http://schemas.openxmlformats.org/officeDocument/2006/relationships/image" Target="../media/image1.tm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1813" y="670322"/>
            <a:ext cx="8432800" cy="738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9144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Titelmasterformat durch Klicken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41339" y="1545432"/>
            <a:ext cx="8410575" cy="3240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Rectangle 19"/>
          <p:cNvSpPr>
            <a:spLocks noGrp="1" noChangeArrowheads="1"/>
          </p:cNvSpPr>
          <p:nvPr>
            <p:ph type="dt" sz="quarter" idx="2"/>
          </p:nvPr>
        </p:nvSpPr>
        <p:spPr>
          <a:xfrm>
            <a:off x="7380289" y="4837510"/>
            <a:ext cx="1576387" cy="219075"/>
          </a:xfrm>
          <a:prstGeom prst="rect">
            <a:avLst/>
          </a:prstGeom>
        </p:spPr>
        <p:txBody>
          <a:bodyPr/>
          <a:lstStyle>
            <a:lvl1pPr algn="r" eaLnBrk="0" hangingPunct="0">
              <a:defRPr sz="900" smtClean="0">
                <a:ea typeface="ＭＳ Ｐゴシック" pitchFamily="34" charset="-128"/>
              </a:defRPr>
            </a:lvl1pPr>
          </a:lstStyle>
          <a:p>
            <a:pPr>
              <a:defRPr/>
            </a:pPr>
            <a:fld id="{7C1E37B6-3E02-4C4C-884B-FC01FA70DD6A}" type="datetime1">
              <a:rPr lang="de-DE" smtClean="0"/>
              <a:t>11.03.2026</a:t>
            </a:fld>
            <a:endParaRPr lang="de-DE" dirty="0"/>
          </a:p>
        </p:txBody>
      </p:sp>
      <p:sp>
        <p:nvSpPr>
          <p:cNvPr id="16" name="Rectangle 20"/>
          <p:cNvSpPr>
            <a:spLocks noGrp="1" noChangeArrowheads="1"/>
          </p:cNvSpPr>
          <p:nvPr>
            <p:ph type="ftr" sz="quarter" idx="3"/>
          </p:nvPr>
        </p:nvSpPr>
        <p:spPr>
          <a:xfrm>
            <a:off x="1331914" y="4839891"/>
            <a:ext cx="5976937" cy="216694"/>
          </a:xfrm>
          <a:prstGeom prst="rect">
            <a:avLst/>
          </a:prstGeom>
        </p:spPr>
        <p:txBody>
          <a:bodyPr/>
          <a:lstStyle>
            <a:lvl1pPr eaLnBrk="0" hangingPunct="0">
              <a:defRPr sz="900" smtClean="0">
                <a:ea typeface="ＭＳ Ｐゴシック" pitchFamily="34" charset="-128"/>
              </a:defRPr>
            </a:lvl1pPr>
          </a:lstStyle>
          <a:p>
            <a:pPr algn="r">
              <a:defRPr/>
            </a:pPr>
            <a:r>
              <a:rPr lang="de-DE"/>
              <a:t>Fußzeile mit weiteren Hinweisen </a:t>
            </a:r>
            <a:endParaRPr lang="de-DE" dirty="0"/>
          </a:p>
        </p:txBody>
      </p:sp>
      <p:sp>
        <p:nvSpPr>
          <p:cNvPr id="17" name="Rectangle 21"/>
          <p:cNvSpPr>
            <a:spLocks noGrp="1" noChangeArrowheads="1"/>
          </p:cNvSpPr>
          <p:nvPr>
            <p:ph type="sldNum" sz="quarter" idx="4"/>
          </p:nvPr>
        </p:nvSpPr>
        <p:spPr>
          <a:xfrm>
            <a:off x="552450" y="4839891"/>
            <a:ext cx="706438" cy="225028"/>
          </a:xfrm>
          <a:prstGeom prst="rect">
            <a:avLst/>
          </a:prstGeom>
        </p:spPr>
        <p:txBody>
          <a:bodyPr/>
          <a:lstStyle>
            <a:lvl1pPr eaLnBrk="0" hangingPunct="0">
              <a:defRPr sz="1050" b="1" smtClean="0">
                <a:solidFill>
                  <a:schemeClr val="bg1">
                    <a:lumMod val="50000"/>
                  </a:schemeClr>
                </a:solidFill>
                <a:ea typeface="ＭＳ Ｐゴシック" pitchFamily="34" charset="-128"/>
              </a:defRPr>
            </a:lvl1pPr>
          </a:lstStyle>
          <a:p>
            <a:pPr>
              <a:defRPr/>
            </a:pPr>
            <a:fld id="{EF82B18D-C707-4786-8163-FFCD341314AB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  <p:sp>
        <p:nvSpPr>
          <p:cNvPr id="19" name="Text Box 7"/>
          <p:cNvSpPr txBox="1">
            <a:spLocks noChangeArrowheads="1"/>
          </p:cNvSpPr>
          <p:nvPr userDrawn="1"/>
        </p:nvSpPr>
        <p:spPr bwMode="auto">
          <a:xfrm>
            <a:off x="496889" y="195720"/>
            <a:ext cx="7343775" cy="383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r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de-DE" sz="1050" b="1" dirty="0">
                <a:solidFill>
                  <a:srgbClr val="003087"/>
                </a:solidFill>
              </a:rPr>
              <a:t>Hessisches</a:t>
            </a:r>
            <a:r>
              <a:rPr lang="de-DE" sz="1050" b="1" baseline="0" dirty="0">
                <a:solidFill>
                  <a:srgbClr val="003087"/>
                </a:solidFill>
              </a:rPr>
              <a:t> Ministerium </a:t>
            </a:r>
            <a:br>
              <a:rPr lang="de-DE" sz="1050" b="1" baseline="0" dirty="0">
                <a:solidFill>
                  <a:srgbClr val="003087"/>
                </a:solidFill>
              </a:rPr>
            </a:br>
            <a:r>
              <a:rPr lang="de-DE" sz="1050" b="0" baseline="0" dirty="0">
                <a:solidFill>
                  <a:srgbClr val="003087"/>
                </a:solidFill>
              </a:rPr>
              <a:t>für Kultus, Bildung und Chancen</a:t>
            </a:r>
            <a:endParaRPr lang="de-DE" sz="900" b="0" dirty="0">
              <a:solidFill>
                <a:srgbClr val="003087"/>
              </a:solidFill>
            </a:endParaRPr>
          </a:p>
        </p:txBody>
      </p:sp>
      <p:grpSp>
        <p:nvGrpSpPr>
          <p:cNvPr id="2" name="Gruppieren 1"/>
          <p:cNvGrpSpPr/>
          <p:nvPr userDrawn="1"/>
        </p:nvGrpSpPr>
        <p:grpSpPr>
          <a:xfrm>
            <a:off x="3175" y="250031"/>
            <a:ext cx="252207" cy="1995488"/>
            <a:chOff x="3175" y="250031"/>
            <a:chExt cx="252207" cy="1995488"/>
          </a:xfrm>
        </p:grpSpPr>
        <p:sp>
          <p:nvSpPr>
            <p:cNvPr id="18" name="Rectangle 30"/>
            <p:cNvSpPr>
              <a:spLocks noChangeArrowheads="1"/>
            </p:cNvSpPr>
            <p:nvPr userDrawn="1"/>
          </p:nvSpPr>
          <p:spPr bwMode="auto">
            <a:xfrm>
              <a:off x="3175" y="250031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0" name="Rectangle 31"/>
            <p:cNvSpPr>
              <a:spLocks noChangeArrowheads="1"/>
            </p:cNvSpPr>
            <p:nvPr userDrawn="1"/>
          </p:nvSpPr>
          <p:spPr bwMode="auto">
            <a:xfrm>
              <a:off x="3175" y="694135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1" name="Rectangle 32"/>
            <p:cNvSpPr>
              <a:spLocks noChangeArrowheads="1"/>
            </p:cNvSpPr>
            <p:nvPr userDrawn="1"/>
          </p:nvSpPr>
          <p:spPr bwMode="auto">
            <a:xfrm>
              <a:off x="3175" y="1138237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2" name="Rectangle 33"/>
            <p:cNvSpPr>
              <a:spLocks noChangeArrowheads="1"/>
            </p:cNvSpPr>
            <p:nvPr userDrawn="1"/>
          </p:nvSpPr>
          <p:spPr bwMode="auto">
            <a:xfrm>
              <a:off x="3175" y="1582341"/>
              <a:ext cx="252000" cy="215503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  <p:sp>
          <p:nvSpPr>
            <p:cNvPr id="23" name="Rectangle 34"/>
            <p:cNvSpPr>
              <a:spLocks noChangeArrowheads="1"/>
            </p:cNvSpPr>
            <p:nvPr userDrawn="1"/>
          </p:nvSpPr>
          <p:spPr bwMode="auto">
            <a:xfrm>
              <a:off x="3382" y="2030015"/>
              <a:ext cx="252000" cy="215504"/>
            </a:xfrm>
            <a:prstGeom prst="rect">
              <a:avLst/>
            </a:prstGeom>
            <a:solidFill>
              <a:srgbClr val="DB2F36"/>
            </a:solidFill>
            <a:ln w="9525">
              <a:solidFill>
                <a:srgbClr val="DB2F36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de-DE"/>
            </a:p>
          </p:txBody>
        </p:sp>
      </p:grpSp>
      <p:pic>
        <p:nvPicPr>
          <p:cNvPr id="5" name="Grafik 4" descr="Bildschirmausschnitt">
            <a:hlinkClick r:id="rId14"/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8404" y="227072"/>
            <a:ext cx="1141387" cy="3063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88" r:id="rId3"/>
    <p:sldLayoutId id="2147483670" r:id="rId4"/>
    <p:sldLayoutId id="2147483666" r:id="rId5"/>
    <p:sldLayoutId id="2147483676" r:id="rId6"/>
    <p:sldLayoutId id="2147483677" r:id="rId7"/>
    <p:sldLayoutId id="2147483680" r:id="rId8"/>
    <p:sldLayoutId id="2147483687" r:id="rId9"/>
    <p:sldLayoutId id="2147483682" r:id="rId10"/>
    <p:sldLayoutId id="2147483678" r:id="rId11"/>
    <p:sldLayoutId id="2147483681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087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2250" b="1">
          <a:solidFill>
            <a:srgbClr val="003399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0"/>
        </a:spcBef>
        <a:spcAft>
          <a:spcPct val="15000"/>
        </a:spcAft>
        <a:buClr>
          <a:srgbClr val="003087"/>
        </a:buClr>
        <a:buSzPct val="70000"/>
        <a:buFont typeface="Wingdings" pitchFamily="2" charset="2"/>
        <a:buChar char="n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10000"/>
        </a:spcBef>
        <a:spcAft>
          <a:spcPct val="10000"/>
        </a:spcAft>
        <a:buClr>
          <a:srgbClr val="F00000"/>
        </a:buClr>
        <a:buSzPct val="100000"/>
        <a:buFont typeface="Arial" pitchFamily="34" charset="0"/>
        <a:buChar char="»"/>
        <a:defRPr>
          <a:solidFill>
            <a:schemeClr val="tx1"/>
          </a:solidFill>
          <a:latin typeface="+mn-lt"/>
        </a:defRPr>
      </a:lvl2pPr>
      <a:lvl3pPr marL="857250" indent="-171450" algn="l" rtl="0" eaLnBrk="1" fontAlgn="base" hangingPunct="1">
        <a:spcBef>
          <a:spcPct val="0"/>
        </a:spcBef>
        <a:spcAft>
          <a:spcPct val="0"/>
        </a:spcAft>
        <a:buClrTx/>
        <a:buFont typeface="Symbol" pitchFamily="18" charset="2"/>
        <a:buChar char="-"/>
        <a:defRPr sz="1200">
          <a:solidFill>
            <a:schemeClr val="tx1"/>
          </a:solidFill>
          <a:latin typeface="+mn-lt"/>
        </a:defRPr>
      </a:lvl3pPr>
      <a:lvl4pPr marL="1200150" indent="-171450" algn="l" rtl="0" eaLnBrk="1" fontAlgn="base" hangingPunct="1">
        <a:spcBef>
          <a:spcPct val="10000"/>
        </a:spcBef>
        <a:spcAft>
          <a:spcPct val="10000"/>
        </a:spcAft>
        <a:buClr>
          <a:schemeClr val="tx1"/>
        </a:buClr>
        <a:buChar char="•"/>
        <a:defRPr sz="1050">
          <a:solidFill>
            <a:schemeClr val="tx1"/>
          </a:solidFill>
          <a:latin typeface="+mn-lt"/>
        </a:defRPr>
      </a:lvl4pPr>
      <a:lvl5pPr marL="1543050" indent="-171450" algn="l" rtl="0" eaLnBrk="1" fontAlgn="base" hangingPunct="1">
        <a:spcBef>
          <a:spcPct val="10000"/>
        </a:spcBef>
        <a:spcAft>
          <a:spcPct val="10000"/>
        </a:spcAft>
        <a:buSzPct val="75000"/>
        <a:buFont typeface="Courier New" pitchFamily="49" charset="0"/>
        <a:buChar char="o"/>
        <a:defRPr sz="900">
          <a:solidFill>
            <a:schemeClr val="tx1"/>
          </a:solidFill>
          <a:latin typeface="+mn-lt"/>
        </a:defRPr>
      </a:lvl5pPr>
      <a:lvl6pPr marL="18859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6pPr>
      <a:lvl7pPr marL="22288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7pPr>
      <a:lvl8pPr marL="25717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8pPr>
      <a:lvl9pPr marL="2914650" indent="-171450" algn="l" rtl="0" eaLnBrk="1" fontAlgn="base" hangingPunct="1">
        <a:spcBef>
          <a:spcPct val="10000"/>
        </a:spcBef>
        <a:spcAft>
          <a:spcPct val="10000"/>
        </a:spcAft>
        <a:buChar char="•"/>
        <a:defRPr sz="9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Corporate LLM im Eigenbetrieb — was mit und was ohne die HZD möglich ist</a:t>
            </a:r>
          </a:p>
          <a:p>
            <a:r>
              <a:t>Referat IV. 2.1  ·  Stand: 11.09.2026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Eine eigene KI für das HMKB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Worum es geht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Die Ausgangslage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Testfälle werden heute händisch pro AWA erstellt — fehleranfällig und langsam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Verfahrensdokumentation wird händisch gepflegt und als PDF abgelegt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Wissen über die LUSD steckt in Köpfen, ADO-Tickets und SharePoint-Dokumenten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Vorschlag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Corporate LLM — eine Sprach-KI, die dem HMKB gehört und im Eigenbetrieb läuft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Alle Daten bleiben im Haus. Kein Cloud-Anbieter, keine Weitergabe an Dritte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Budgetrahmen: maximal 100.000 € über zwei Jahre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B63"/>
                </a:solidFill>
              </a:rPr>
              <a:t>Der Kern dieser Präsentation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Ein Pilot ist ohne Live-Anbindung an ADO und SharePoint möglich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Vorher muss geklärt werden, ob HessenPCs die externe KI-Webadresse erreichen dürfen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Der Vollausbau im Hessennetz ist nur gemeinsam mit der HZD möglich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 erreicht die Keller-KI den HessenPC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43000"/>
            <a:ext cx="18288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1  HessenPC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Vorhandener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Keine lokale Installation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14600" y="1143000"/>
            <a:ext cx="21488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E1001A"/>
                </a:solidFill>
              </a:rPr>
              <a:t>2  Sicherer Netzweg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Freigegebene HTTPS-Adresse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Anmeldung und Berechtigung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143000"/>
            <a:ext cx="379476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3  KI-Server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Komponenten laufen zentral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Der HessenPC dient nur zur Bedienung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Oberfläche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Chat und Dateiupload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Agenten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AWA, Testfall, Wissen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007A33"/>
                </a:solidFill>
              </a:rPr>
              <a:t>Wissensbasis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Freigegebene Dokumente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788920"/>
            <a:ext cx="182880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Open-Weight-Modell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95959"/>
                </a:solidFill>
              </a:rPr>
              <a:t>Das eigentliche „Gehirn“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001A"/>
                </a:solidFill>
              </a:rPr>
              <a:t>Offener Prüfpunkt für Phase 1: Darf der HessenPC die externe Webadresse erreichen und Dokumente dorthin hochladen?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und Modellauswahl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1F3B63"/>
                </a:solidFill>
              </a:rPr>
              <a:t>Hardware-Empfehlung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NVIDIA RTX A6000 Ada, 48 GB Grafikspeicher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in einem Dell PowerEdge Server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15.000 – 20.000 € einmalig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234440"/>
            <a:ext cx="39319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Was die Hardware leistet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Modelle bis 32 Milliarden Parameter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10 – 20 gleichzeitige Nutzer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bei rund 60 Berechtigten insgesamt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88036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554480"/>
                <a:gridCol w="301752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Modell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Herkunft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Qualität Deutsch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Einordnung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Mistral Small 3.2 (24B)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Frankreich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Gut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1. Wahl — EU-Anbieter, Apache 2.0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Qwen 2.5 (32B)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China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Sehr gut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2. Wahl — beste Qualität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Llama 4 Scout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USA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Befriedigend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595959"/>
                          </a:solidFill>
                        </a:defRPr>
                      </a:pPr>
                      <a:r>
                        <a:t>Rückfalloption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95959"/>
                </a:solidFill>
              </a:rPr>
              <a:t>Mehrere Modelle laufen parallel auf derselben Hardware und lassen sich per Klick wechseln. Die Entscheidung ist nicht endgültig.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Kosten über zwei Jahre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280160"/>
          <a:ext cx="69494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377440"/>
              </a:tblGrid>
              <a:tr h="4267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Posten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Betrag</a:t>
                      </a:r>
                    </a:p>
                  </a:txBody>
                  <a:tcPr anchor="ctr" marL="73152" marR="73152" marT="27432" marB="27432">
                    <a:solidFill>
                      <a:srgbClr val="1F3B6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Hardware (Server inkl. Grafikkarte)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20.000 €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Einrichtung und Konfiguration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18.000 – 30.000 €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Betrieb und Wartung (24 Monate)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15.000 – 27.000 €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Puffer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5.000 – 10.000 €</a:t>
                      </a:r>
                    </a:p>
                  </a:txBody>
                  <a:tcPr anchor="ctr" marL="73152" marR="73152" marT="27432" marB="27432">
                    <a:solidFill>
                      <a:srgbClr val="EFEF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Gesamt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595959"/>
                          </a:solidFill>
                        </a:defRPr>
                      </a:pPr>
                      <a:r>
                        <a:t>53.000 – 87.000 €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097280" y="3977639"/>
            <a:ext cx="694944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400" b="1">
                <a:solidFill>
                  <a:srgbClr val="007A33"/>
                </a:solidFill>
              </a:rPr>
              <a:t>Ergebnis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</a:rPr>
              <a:t>Der Budgetrahmen von 100.000 € wird in jeder Variante eingehalten — auch im oberen Kostenszenario bleibt Luft.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entscheidende Hürde: das Hessennetz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Alle HMKB-Fachsysteme laufen im Hessennetz — einem geschlossenen Behördennetz.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konkret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SharePoint läuft on-premise bei der HZD — von außen nicht erreichbar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Azure DevOps Server 2016 läuft ebenfalls on-premise bei der HZD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Eine Live-Anbindung von außen ist damit technisch ausgeschlossen. Ohne Ausnahme.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Was das nicht bedeutet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Die Keller-KI selbst funktioniert vollständig — sie braucht keinen Netzzugang zu diesen Systemen, um zu arbeiten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</a:rPr>
              <a:t>Nur der automatische Datenfluss in beide Richtungen entfällt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B63"/>
                </a:solidFill>
              </a:rPr>
              <a:t>Der Vollausbau ist deshalb kein Antrag auf eine Firewall-Regel, sondern perspektivisch eine Kooperation mit der HZD.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Zwei Wege — mit und ohne HZD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007A33"/>
                </a:solidFill>
              </a:rPr>
              <a:t>Phase 1 — technisch startbar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Live-Anbindung an HZD-Systeme:  nein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HessenPC-Zugriff:  noch zu klären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läuft außerhalb des Hessennetzes,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einem EU-Rechenzentrum, DSGVO-konform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Dokumente werden manuell exportiert und über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die Weboberfläche in die Wissensbasis geladen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Alle Agenten laufen vollständig: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AWA-Assistent, Testfall-Generator,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Wissensassistent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Direkte Nutzung am HessenPC nur, wenn die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externe HTTPS-Adresse freigegeben 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9160" y="1188720"/>
            <a:ext cx="402336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0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500" b="1">
                <a:solidFill>
                  <a:srgbClr val="E1001A"/>
                </a:solidFill>
              </a:rPr>
              <a:t>Phase 2 — Vollausbau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Abhängig von der HZD:  ja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KI-Server steht physisch im Hessennetz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Live-Zugriff auf Azure DevOps und SharePoint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in beide Richtungen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Mitarbeitende öffnen die KI direkt im Browser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am HessenPC — keine Installation nötig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Voraussetzung: eigener Serverraum beim HMKB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oder Kooperation mit der HZD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 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595959"/>
                </a:solidFill>
              </a:rPr>
              <a:t>Zeitpunkt offen — politisch, nicht technisch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262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F3B63"/>
                </a:solidFill>
              </a:rPr>
              <a:t>Phase 1 liefert rund 80 % des fachlichen Nutzens — sobald der HessenPC-Zugriff geklärt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sich konkret ändert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3B63"/>
                </a:solidFill>
              </a:rPr>
              <a:t>Von der AWA zum Testfall — in 30 Sekunden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1   ·   Mitarbeiterin öffnet die AWA in Azure DevOps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432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2   ·   Agent liest die AWA und die LUSD-Dokumente aus der Wissensdatenbank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35224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3   ·   Agent erzeugt Normalfall, Sonderfall und Fehlerfall automatisch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57016"/>
            <a:ext cx="822960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200" b="1">
                <a:solidFill>
                  <a:srgbClr val="1F3B63"/>
                </a:solidFill>
              </a:rPr>
              <a:t>Schritt 4   ·   Mensch prüft das Ergebnis und gibt es frei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595959"/>
                </a:solidFill>
              </a:rPr>
              <a:t>Heute:  2 – 3 Stunden händisch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4251960"/>
            <a:ext cx="393192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l"/>
            <a:r>
              <a:rPr sz="1300" b="1">
                <a:solidFill>
                  <a:srgbClr val="007A33"/>
                </a:solidFill>
              </a:rPr>
              <a:t>Künftig:  30 Sekunden + Freigabe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Geprüft und verworfen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</a:rPr>
              <a:t>Diese Wege haben wir untersucht und wieder verworfen — der Vollständigkeit halber: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Server bei der HZD aufstellen (Colocation)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Technisch elegant, politisch aussichtslos: fremder Server im eigenen Netz, den die HZD nicht kontrolliert. Dazu Präzedenzfall-Sorge und Eigeninteresse an eigener KI-Infrastruktur.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Anbindung über Microsoft Azure / Service Principal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Würde funktionieren, wenn die Systeme in der Microsoft-Cloud lägen. Tun sie nicht — SharePoint und Azure DevOps Server 2016 laufen on-premise.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KI lokal auf den Endgeräten installieren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Der HessenPC lässt keine Software-Installation zu. Ausgeschlossen.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3B63"/>
                </a:solidFill>
              </a:rPr>
              <a:t>Zugriff über HessenAccess (VPN)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</a:rPr>
              <a:t>Interessant: Wer über HessenAccess verbunden ist, ist faktisch im Hessennetz und könnte einen internen KI-Server per Browser erreichen. Setzt aber Phase 2 voraus — der Server muss erst drin stehen.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Offene Fragen und 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Zu klären mit dem HMKB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Hat das HMKB einen eigenen Serverraum mit Rack-Infrastruktur — oder läuft alles über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verwaltet die Microsoft-Tenants des HMKB: das Haus selbst oder die HZD?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Wer ist der IT-Ansprechpartner für dieses Vorhaben?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HessenPCs eine externe, authentifizierte HTTPS-Webanwendung aufrufen?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Dürfen freigegebene Dokumente vom HessenPC dorthin hochgeladen werden?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Besteht eine Ausschreibungspflicht?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Gibt es bereits eine KI-Nutzungsrichtlinie im Haus?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Wurde das Vorhaben mit dem Datenschutzbeauftragten besprochen?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Bis wann soll das Angebot vorliegen?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3B63"/>
                </a:solidFill>
              </a:rPr>
              <a:t>Vorschlag für das weitere Vorgehen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HessenPC-Zugang kurzfristig mit der zuständigen IT verbindlich klären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Danach Entscheidung des Referats über den Start von Phase 1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Parallel klären, ob Phase 2 mittelfristig realistisch ist</a:t>
            </a:r>
          </a:p>
          <a:p>
            <a:pPr lvl="1">
              <a:spcAft>
                <a:spcPts val="600"/>
              </a:spcAft>
            </a:pPr>
            <a:r>
              <a:rPr sz="1000" b="0">
                <a:solidFill>
                  <a:srgbClr val="595959"/>
                </a:solidFill>
              </a:rPr>
              <a:t>Nach den Antworten: verbindliches Angebot mit Zeitplan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Der Pilot braucht keine Live-Anbindung an ADO oder SharePoint und bleibt im Budget.</a:t>
            </a:r>
          </a:p>
          <a:p>
            <a:r>
              <a:t>Vor dem Start muss nur noch verbindlich geklärt werden, wie der HessenPC die KI-Webanwendung erreicht.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Die Kernaussage in einem Satz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KM_GrunddesignPPT">
  <a:themeElements>
    <a:clrScheme name="ppt-Vorlage_IQ-Standard_2011 15">
      <a:dk1>
        <a:srgbClr val="000000"/>
      </a:dk1>
      <a:lt1>
        <a:srgbClr val="FFFFFF"/>
      </a:lt1>
      <a:dk2>
        <a:srgbClr val="004B95"/>
      </a:dk2>
      <a:lt2>
        <a:srgbClr val="C0C0C0"/>
      </a:lt2>
      <a:accent1>
        <a:srgbClr val="799BC5"/>
      </a:accent1>
      <a:accent2>
        <a:srgbClr val="DB2D36"/>
      </a:accent2>
      <a:accent3>
        <a:srgbClr val="FFFFFF"/>
      </a:accent3>
      <a:accent4>
        <a:srgbClr val="000000"/>
      </a:accent4>
      <a:accent5>
        <a:srgbClr val="BECBDF"/>
      </a:accent5>
      <a:accent6>
        <a:srgbClr val="C62830"/>
      </a:accent6>
      <a:hlink>
        <a:srgbClr val="004B95"/>
      </a:hlink>
      <a:folHlink>
        <a:srgbClr val="808080"/>
      </a:folHlink>
    </a:clrScheme>
    <a:fontScheme name="ppt-Vorlage_IQ-Standard_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pt-Vorlage_IQ-Standard_2011 1">
        <a:dk1>
          <a:srgbClr val="25252F"/>
        </a:dk1>
        <a:lt1>
          <a:srgbClr val="9999FF"/>
        </a:lt1>
        <a:dk2>
          <a:srgbClr val="000000"/>
        </a:dk2>
        <a:lt2>
          <a:srgbClr val="FFFFFF"/>
        </a:lt2>
        <a:accent1>
          <a:srgbClr val="3366FF"/>
        </a:accent1>
        <a:accent2>
          <a:srgbClr val="003399"/>
        </a:accent2>
        <a:accent3>
          <a:srgbClr val="AAAAAA"/>
        </a:accent3>
        <a:accent4>
          <a:srgbClr val="8282DA"/>
        </a:accent4>
        <a:accent5>
          <a:srgbClr val="ADB8FF"/>
        </a:accent5>
        <a:accent6>
          <a:srgbClr val="002D8A"/>
        </a:accent6>
        <a:hlink>
          <a:srgbClr val="0099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2">
        <a:dk1>
          <a:srgbClr val="314183"/>
        </a:dk1>
        <a:lt1>
          <a:srgbClr val="FFFFFF"/>
        </a:lt1>
        <a:dk2>
          <a:srgbClr val="0B1E45"/>
        </a:dk2>
        <a:lt2>
          <a:srgbClr val="FFFFFF"/>
        </a:lt2>
        <a:accent1>
          <a:srgbClr val="6666FF"/>
        </a:accent1>
        <a:accent2>
          <a:srgbClr val="0066FF"/>
        </a:accent2>
        <a:accent3>
          <a:srgbClr val="AAABB0"/>
        </a:accent3>
        <a:accent4>
          <a:srgbClr val="DADADA"/>
        </a:accent4>
        <a:accent5>
          <a:srgbClr val="B8B8FF"/>
        </a:accent5>
        <a:accent6>
          <a:srgbClr val="005CE7"/>
        </a:accent6>
        <a:hlink>
          <a:srgbClr val="006699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3">
        <a:dk1>
          <a:srgbClr val="194349"/>
        </a:dk1>
        <a:lt1>
          <a:srgbClr val="FFFFCC"/>
        </a:lt1>
        <a:dk2>
          <a:srgbClr val="006666"/>
        </a:dk2>
        <a:lt2>
          <a:srgbClr val="FFFFFF"/>
        </a:lt2>
        <a:accent1>
          <a:srgbClr val="99CC00"/>
        </a:accent1>
        <a:accent2>
          <a:srgbClr val="00B6B2"/>
        </a:accent2>
        <a:accent3>
          <a:srgbClr val="AAB8B8"/>
        </a:accent3>
        <a:accent4>
          <a:srgbClr val="DADAAE"/>
        </a:accent4>
        <a:accent5>
          <a:srgbClr val="CAE2AA"/>
        </a:accent5>
        <a:accent6>
          <a:srgbClr val="00A5A1"/>
        </a:accent6>
        <a:hlink>
          <a:srgbClr val="669900"/>
        </a:hlink>
        <a:folHlink>
          <a:srgbClr val="6666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4">
        <a:dk1>
          <a:srgbClr val="194349"/>
        </a:dk1>
        <a:lt1>
          <a:srgbClr val="FFFFCC"/>
        </a:lt1>
        <a:dk2>
          <a:srgbClr val="0000FF"/>
        </a:dk2>
        <a:lt2>
          <a:srgbClr val="FFFFFF"/>
        </a:lt2>
        <a:accent1>
          <a:srgbClr val="0099FF"/>
        </a:accent1>
        <a:accent2>
          <a:srgbClr val="33CC33"/>
        </a:accent2>
        <a:accent3>
          <a:srgbClr val="AAAAFF"/>
        </a:accent3>
        <a:accent4>
          <a:srgbClr val="DADAAE"/>
        </a:accent4>
        <a:accent5>
          <a:srgbClr val="AACAFF"/>
        </a:accent5>
        <a:accent6>
          <a:srgbClr val="2DB92D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5">
        <a:dk1>
          <a:srgbClr val="194349"/>
        </a:dk1>
        <a:lt1>
          <a:srgbClr val="FFFFCC"/>
        </a:lt1>
        <a:dk2>
          <a:srgbClr val="72A497"/>
        </a:dk2>
        <a:lt2>
          <a:srgbClr val="000000"/>
        </a:lt2>
        <a:accent1>
          <a:srgbClr val="805D32"/>
        </a:accent1>
        <a:accent2>
          <a:srgbClr val="7D2F3C"/>
        </a:accent2>
        <a:accent3>
          <a:srgbClr val="BCCFC9"/>
        </a:accent3>
        <a:accent4>
          <a:srgbClr val="DADAAE"/>
        </a:accent4>
        <a:accent5>
          <a:srgbClr val="C0B6AD"/>
        </a:accent5>
        <a:accent6>
          <a:srgbClr val="712A35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6">
        <a:dk1>
          <a:srgbClr val="1C1C1C"/>
        </a:dk1>
        <a:lt1>
          <a:srgbClr val="FFFFFF"/>
        </a:lt1>
        <a:dk2>
          <a:srgbClr val="710F0F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BB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666699"/>
        </a:hlink>
        <a:folHlink>
          <a:srgbClr val="99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-Vorlage_IQ-Standard_2011 7">
        <a:dk1>
          <a:srgbClr val="336666"/>
        </a:dk1>
        <a:lt1>
          <a:srgbClr val="FFFFFF"/>
        </a:lt1>
        <a:dk2>
          <a:srgbClr val="000000"/>
        </a:dk2>
        <a:lt2>
          <a:srgbClr val="666699"/>
        </a:lt2>
        <a:accent1>
          <a:srgbClr val="99CCCC"/>
        </a:accent1>
        <a:accent2>
          <a:srgbClr val="CCCCCC"/>
        </a:accent2>
        <a:accent3>
          <a:srgbClr val="FFFFFF"/>
        </a:accent3>
        <a:accent4>
          <a:srgbClr val="2A5656"/>
        </a:accent4>
        <a:accent5>
          <a:srgbClr val="CAE2E2"/>
        </a:accent5>
        <a:accent6>
          <a:srgbClr val="B9B9B9"/>
        </a:accent6>
        <a:hlink>
          <a:srgbClr val="00666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8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3366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9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CC3300"/>
        </a:accent1>
        <a:accent2>
          <a:srgbClr val="CC9900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B98A00"/>
        </a:accent6>
        <a:hlink>
          <a:srgbClr val="CC6600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0">
        <a:dk1>
          <a:srgbClr val="000000"/>
        </a:dk1>
        <a:lt1>
          <a:srgbClr val="FFFFFF"/>
        </a:lt1>
        <a:dk2>
          <a:srgbClr val="000000"/>
        </a:dk2>
        <a:lt2>
          <a:srgbClr val="666699"/>
        </a:lt2>
        <a:accent1>
          <a:srgbClr val="666699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B8B8CA"/>
        </a:accent5>
        <a:accent6>
          <a:srgbClr val="8A8AE7"/>
        </a:accent6>
        <a:hlink>
          <a:srgbClr val="3366FF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1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2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CCDE2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DAE3EE"/>
        </a:accent5>
        <a:accent6>
          <a:srgbClr val="E7000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3399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5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799BC5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BECBDF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-Vorlage_IQ-Standard_2011 16">
        <a:dk1>
          <a:srgbClr val="000000"/>
        </a:dk1>
        <a:lt1>
          <a:srgbClr val="FFFFFF"/>
        </a:lt1>
        <a:dk2>
          <a:srgbClr val="004B95"/>
        </a:dk2>
        <a:lt2>
          <a:srgbClr val="C0C0C0"/>
        </a:lt2>
        <a:accent1>
          <a:srgbClr val="FFCC00"/>
        </a:accent1>
        <a:accent2>
          <a:srgbClr val="DB2D36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C62830"/>
        </a:accent6>
        <a:hlink>
          <a:srgbClr val="004B95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hmkb-folienvorlage_16zu9.pptx" id="{BA8D154A-E729-4E84-A4F1-AC64C705522D}" vid="{DC796774-9861-4D77-840E-A98AB6EA070D}"/>
    </a:ext>
  </a:ext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057EFD54097B4438E7A80F3D1373265" ma:contentTypeVersion="1" ma:contentTypeDescription="Ein neues Dokument erstellen." ma:contentTypeScope="" ma:versionID="834bd551b14fcde88a9c6a4a0bf530df">
  <xsd:schema xmlns:xsd="http://www.w3.org/2001/XMLSchema" xmlns:xs="http://www.w3.org/2001/XMLSchema" xmlns:p="http://schemas.microsoft.com/office/2006/metadata/properties" xmlns:ns2="8637de2c-6bc0-411d-bf65-aa36b7f9c66d" targetNamespace="http://schemas.microsoft.com/office/2006/metadata/properties" ma:root="true" ma:fieldsID="e455fcda4cde3aa6122f413ba46336a9" ns2:_="">
    <xsd:import namespace="8637de2c-6bc0-411d-bf65-aa36b7f9c66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37de2c-6bc0-411d-bf65-aa36b7f9c66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209D72-484E-46E5-8AF5-E4C907679F9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00017A1-94BC-4394-9852-7E0A4C91927E}">
  <ds:schemaRefs>
    <ds:schemaRef ds:uri="http://purl.org/dc/terms/"/>
    <ds:schemaRef ds:uri="8637de2c-6bc0-411d-bf65-aa36b7f9c66d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81B246F-A24C-4FF5-9599-4E67AE3D466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37de2c-6bc0-411d-bf65-aa36b7f9c66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hmkb-folienvorlage_16zu9</Template>
  <TotalTime>0</TotalTime>
  <Words>12</Words>
  <Application>Microsoft Office PowerPoint</Application>
  <PresentationFormat>Bildschirmpräsentation (16:9)</PresentationFormat>
  <Paragraphs>6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ＭＳ Ｐゴシック</vt:lpstr>
      <vt:lpstr>Arial</vt:lpstr>
      <vt:lpstr>Courier New</vt:lpstr>
      <vt:lpstr>Symbol</vt:lpstr>
      <vt:lpstr>Wingdings</vt:lpstr>
      <vt:lpstr>HKM_GrunddesignPPT</vt:lpstr>
      <vt:lpstr>PowerPoint-Präsentation</vt:lpstr>
      <vt:lpstr>PowerPoint-Präsentation</vt:lpstr>
      <vt:lpstr>PowerPoint-Präsentation</vt:lpstr>
      <vt:lpstr>PowerPoint-Präsentation</vt:lpstr>
    </vt:vector>
  </TitlesOfParts>
  <Company>Land Hessen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Titelfolie – Standard</dc:title>
  <dc:creator>Rheingans, Kerstin (HMKB)</dc:creator>
  <cp:lastModifiedBy>Bonhoff, Sarah (HMKB)</cp:lastModifiedBy>
  <cp:revision>6</cp:revision>
  <dcterms:created xsi:type="dcterms:W3CDTF">2025-04-16T11:33:11Z</dcterms:created>
  <dcterms:modified xsi:type="dcterms:W3CDTF">2026-03-11T14:42:47Z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0x0101000057EFD54097B4438E7A80F3D1373265</vt:lpwstr>
  </property>
</Properties>
</file>