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4" r:id="rId4"/>
  </p:sldMasterIdLst>
  <p:notesMasterIdLst>
    <p:notesMasterId r:id="rId13"/>
  </p:notesMasterIdLst>
  <p:sldIdLst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87"/>
    <a:srgbClr val="424178"/>
    <a:srgbClr val="C4323E"/>
    <a:srgbClr val="15468B"/>
    <a:srgbClr val="575F9B"/>
    <a:srgbClr val="C6313D"/>
    <a:srgbClr val="A3364D"/>
    <a:srgbClr val="683D67"/>
    <a:srgbClr val="C8313C"/>
    <a:srgbClr val="1E45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2132" autoAdjust="0"/>
  </p:normalViewPr>
  <p:slideViewPr>
    <p:cSldViewPr>
      <p:cViewPr varScale="1">
        <p:scale>
          <a:sx n="140" d="100"/>
          <a:sy n="140" d="100"/>
        </p:scale>
        <p:origin x="92" y="24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50BC10CD-ACBC-4E28-8D0F-D6CF02DF846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07388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hyperlink" Target="https://kultus.hessen.de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87" y="2029490"/>
            <a:ext cx="8890413" cy="311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4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3175" y="250031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" name="Rectangle 31"/>
          <p:cNvSpPr>
            <a:spLocks noChangeArrowheads="1"/>
          </p:cNvSpPr>
          <p:nvPr/>
        </p:nvSpPr>
        <p:spPr bwMode="auto">
          <a:xfrm>
            <a:off x="3175" y="694135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" name="Rectangle 32"/>
          <p:cNvSpPr>
            <a:spLocks noChangeArrowheads="1"/>
          </p:cNvSpPr>
          <p:nvPr/>
        </p:nvSpPr>
        <p:spPr bwMode="auto">
          <a:xfrm>
            <a:off x="3175" y="1138237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3175" y="1582341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pic>
        <p:nvPicPr>
          <p:cNvPr id="11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3" y="1488900"/>
            <a:ext cx="8477251" cy="525773"/>
          </a:xfrm>
        </p:spPr>
        <p:txBody>
          <a:bodyPr lIns="0" tIns="72000" rIns="0" bIns="0" anchor="t"/>
          <a:lstStyle>
            <a:lvl1pPr marL="0" indent="0">
              <a:lnSpc>
                <a:spcPts val="1800"/>
              </a:lnSpc>
              <a:spcAft>
                <a:spcPct val="0"/>
              </a:spcAft>
              <a:buFont typeface="Wingdings" pitchFamily="2" charset="2"/>
              <a:buNone/>
              <a:defRPr sz="1650"/>
            </a:lvl1pPr>
          </a:lstStyle>
          <a:p>
            <a:pPr lv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87363" y="670322"/>
            <a:ext cx="8477251" cy="738188"/>
          </a:xfrm>
        </p:spPr>
        <p:txBody>
          <a:bodyPr lIns="0" rIns="0"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1587" y="2030015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Rechteck 15"/>
          <p:cNvSpPr/>
          <p:nvPr userDrawn="1"/>
        </p:nvSpPr>
        <p:spPr>
          <a:xfrm>
            <a:off x="253587" y="2026444"/>
            <a:ext cx="8898053" cy="3117057"/>
          </a:xfrm>
          <a:prstGeom prst="rect">
            <a:avLst/>
          </a:prstGeom>
          <a:gradFill flip="none" rotWithShape="1">
            <a:gsLst>
              <a:gs pos="73000">
                <a:srgbClr val="C9D2E9"/>
              </a:gs>
              <a:gs pos="45000">
                <a:srgbClr val="607DB6"/>
              </a:gs>
              <a:gs pos="9000">
                <a:srgbClr val="003087"/>
              </a:gs>
              <a:gs pos="100000">
                <a:srgbClr val="F6F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26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dirty="0" smtClean="0"/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253587" y="2026444"/>
            <a:ext cx="8890413" cy="3117056"/>
          </a:xfr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600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-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670322"/>
            <a:ext cx="8497069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8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80D8169-47E9-4C41-A2C1-0ACE905247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29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30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3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7545" y="1545432"/>
            <a:ext cx="8484370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43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folie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253587" y="692944"/>
            <a:ext cx="8890413" cy="918000"/>
          </a:xfrm>
          <a:prstGeom prst="rect">
            <a:avLst/>
          </a:prstGeom>
          <a:gradFill flip="none" rotWithShape="1">
            <a:gsLst>
              <a:gs pos="27000">
                <a:srgbClr val="6E89BD"/>
              </a:gs>
              <a:gs pos="0">
                <a:srgbClr val="003087"/>
              </a:gs>
              <a:gs pos="56000">
                <a:srgbClr val="CBD4EA"/>
              </a:gs>
              <a:gs pos="93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/>
          <p:cNvSpPr/>
          <p:nvPr userDrawn="1"/>
        </p:nvSpPr>
        <p:spPr>
          <a:xfrm>
            <a:off x="253586" y="1579960"/>
            <a:ext cx="8890413" cy="3203655"/>
          </a:xfrm>
          <a:prstGeom prst="rect">
            <a:avLst/>
          </a:prstGeom>
          <a:gradFill flip="none" rotWithShape="1">
            <a:gsLst>
              <a:gs pos="67000">
                <a:srgbClr val="C5CFE7"/>
              </a:gs>
              <a:gs pos="37500">
                <a:srgbClr val="5C7AB4"/>
              </a:gs>
              <a:gs pos="0">
                <a:srgbClr val="003087"/>
              </a:gs>
              <a:gs pos="94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6889" y="670322"/>
            <a:ext cx="8467724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26AF04E-2C42-4D7D-9FA6-0895B2147FEF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12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3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3999" y="1582341"/>
            <a:ext cx="8447915" cy="320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5" name="Text Box 7"/>
          <p:cNvSpPr txBox="1">
            <a:spLocks noChangeArrowheads="1"/>
          </p:cNvSpPr>
          <p:nvPr userDrawn="1"/>
        </p:nvSpPr>
        <p:spPr bwMode="auto">
          <a:xfrm>
            <a:off x="496889" y="18931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695"/>
                </a:solidFill>
              </a:rPr>
              <a:t>Hessisches</a:t>
            </a:r>
            <a:r>
              <a:rPr lang="de-DE" sz="1050" b="1" baseline="0" dirty="0">
                <a:solidFill>
                  <a:srgbClr val="003695"/>
                </a:solidFill>
              </a:rPr>
              <a:t> Ministerium </a:t>
            </a:r>
            <a:br>
              <a:rPr lang="de-DE" sz="1050" b="1" baseline="0" dirty="0">
                <a:solidFill>
                  <a:srgbClr val="003695"/>
                </a:solidFill>
              </a:rPr>
            </a:br>
            <a:r>
              <a:rPr lang="de-DE" sz="1050" b="0" baseline="0" dirty="0">
                <a:solidFill>
                  <a:srgbClr val="003695"/>
                </a:solidFill>
              </a:rPr>
              <a:t>für Kultus, Bildung und Chancen</a:t>
            </a:r>
            <a:endParaRPr lang="de-DE" sz="900" b="0" dirty="0">
              <a:solidFill>
                <a:srgbClr val="003695"/>
              </a:solidFill>
            </a:endParaRPr>
          </a:p>
        </p:txBody>
      </p:sp>
      <p:grpSp>
        <p:nvGrpSpPr>
          <p:cNvPr id="24" name="Gruppieren 2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2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7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8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9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0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17" name="Grafik 16" descr="Bildschirmausschnitt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9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2DC49A-64FA-4C3F-80F3-AF205E2A1F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716016" y="1545637"/>
            <a:ext cx="424008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3"/>
          </p:nvPr>
        </p:nvSpPr>
        <p:spPr bwMode="auto">
          <a:xfrm>
            <a:off x="467544" y="1545637"/>
            <a:ext cx="415222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639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0C90F2-01D9-4AA5-A85C-27A63631B086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34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ohne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251A07-1F74-4A98-82D5-CBD0DE5164A2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876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45" y="689263"/>
            <a:ext cx="8882955" cy="4114735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61FF7AE-E47F-48DC-9035-E2B5C6B7102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371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FB9BE8-06FC-498B-A6B6-27E04BB94BBC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420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BC6915-E11F-44E2-A087-31E6B6A359CE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509918"/>
            <a:ext cx="3008313" cy="3240360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1" y="737379"/>
            <a:ext cx="3011438" cy="605284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3265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85C73B-8746-43D2-B2DF-264E9B26874F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347614"/>
            <a:ext cx="3008313" cy="3384376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0" y="734973"/>
            <a:ext cx="3011438" cy="504057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9796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tm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kultus.hessen.de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1813" y="670322"/>
            <a:ext cx="8432800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1339" y="1545432"/>
            <a:ext cx="8410575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tangle 19"/>
          <p:cNvSpPr>
            <a:spLocks noGrp="1" noChangeArrowheads="1"/>
          </p:cNvSpPr>
          <p:nvPr>
            <p:ph type="dt" sz="quarter" idx="2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7C1E37B6-3E02-4C4C-884B-FC01FA70DD6A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16" name="Rectangle 20"/>
          <p:cNvSpPr>
            <a:spLocks noGrp="1" noChangeArrowheads="1"/>
          </p:cNvSpPr>
          <p:nvPr>
            <p:ph type="ftr" sz="quarter" idx="3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7" name="Rectangle 2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9" name="Text Box 7"/>
          <p:cNvSpPr txBox="1">
            <a:spLocks noChangeArrowheads="1"/>
          </p:cNvSpPr>
          <p:nvPr userDrawn="1"/>
        </p:nvSpPr>
        <p:spPr bwMode="auto">
          <a:xfrm>
            <a:off x="496889" y="19572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2" name="Gruppieren 1"/>
          <p:cNvGrpSpPr/>
          <p:nvPr userDrawn="1"/>
        </p:nvGrpSpPr>
        <p:grpSpPr>
          <a:xfrm>
            <a:off x="3175" y="250031"/>
            <a:ext cx="252207" cy="1995488"/>
            <a:chOff x="3175" y="250031"/>
            <a:chExt cx="252207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3" name="Rectangle 34"/>
            <p:cNvSpPr>
              <a:spLocks noChangeArrowheads="1"/>
            </p:cNvSpPr>
            <p:nvPr userDrawn="1"/>
          </p:nvSpPr>
          <p:spPr bwMode="auto">
            <a:xfrm>
              <a:off x="3382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5" name="Grafik 4" descr="Bildschirmausschnitt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88" r:id="rId3"/>
    <p:sldLayoutId id="2147483670" r:id="rId4"/>
    <p:sldLayoutId id="2147483666" r:id="rId5"/>
    <p:sldLayoutId id="2147483676" r:id="rId6"/>
    <p:sldLayoutId id="2147483677" r:id="rId7"/>
    <p:sldLayoutId id="2147483680" r:id="rId8"/>
    <p:sldLayoutId id="2147483687" r:id="rId9"/>
    <p:sldLayoutId id="2147483682" r:id="rId10"/>
    <p:sldLayoutId id="2147483678" r:id="rId11"/>
    <p:sldLayoutId id="2147483681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08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0"/>
        </a:spcBef>
        <a:spcAft>
          <a:spcPct val="15000"/>
        </a:spcAft>
        <a:buClr>
          <a:srgbClr val="003087"/>
        </a:buClr>
        <a:buSzPct val="70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10000"/>
        </a:spcBef>
        <a:spcAft>
          <a:spcPct val="10000"/>
        </a:spcAft>
        <a:buClr>
          <a:srgbClr val="F00000"/>
        </a:buClr>
        <a:buSzPct val="100000"/>
        <a:buFont typeface="Arial" pitchFamily="34" charset="0"/>
        <a:buChar char="»"/>
        <a:defRPr>
          <a:solidFill>
            <a:schemeClr val="tx1"/>
          </a:solidFill>
          <a:latin typeface="+mn-lt"/>
        </a:defRPr>
      </a:lvl2pPr>
      <a:lvl3pPr marL="857250" indent="-171450" algn="l" rtl="0" eaLnBrk="1" fontAlgn="base" hangingPunct="1">
        <a:spcBef>
          <a:spcPct val="0"/>
        </a:spcBef>
        <a:spcAft>
          <a:spcPct val="0"/>
        </a:spcAft>
        <a:buClrTx/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3pPr>
      <a:lvl4pPr marL="1200150" indent="-171450" algn="l" rtl="0" eaLnBrk="1" fontAlgn="base" hangingPunct="1">
        <a:spcBef>
          <a:spcPct val="10000"/>
        </a:spcBef>
        <a:spcAft>
          <a:spcPct val="10000"/>
        </a:spcAft>
        <a:buClr>
          <a:schemeClr val="tx1"/>
        </a:buClr>
        <a:buChar char="•"/>
        <a:defRPr sz="1050">
          <a:solidFill>
            <a:schemeClr val="tx1"/>
          </a:solidFill>
          <a:latin typeface="+mn-lt"/>
        </a:defRPr>
      </a:lvl4pPr>
      <a:lvl5pPr marL="1543050" indent="-171450" algn="l" rtl="0" eaLnBrk="1" fontAlgn="base" hangingPunct="1">
        <a:spcBef>
          <a:spcPct val="10000"/>
        </a:spcBef>
        <a:spcAft>
          <a:spcPct val="10000"/>
        </a:spcAft>
        <a:buSzPct val="75000"/>
        <a:buFont typeface="Courier New" pitchFamily="49" charset="0"/>
        <a:buChar char="o"/>
        <a:defRPr sz="90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95536" y="2211710"/>
            <a:ext cx="8435975" cy="525773"/>
          </a:xfrm>
        </p:spPr>
        <p:txBody>
          <a:bodyPr/>
          <a:lstStyle/>
          <a:p>
            <a:r>
              <a:rPr sz="2400" dirty="0">
                <a:solidFill>
                  <a:schemeClr val="bg1"/>
                </a:solidFill>
              </a:rPr>
              <a:t>Pilot zur Design-Entlastung mit Agenten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>
          <a:xfrm>
            <a:off x="323528" y="1203598"/>
            <a:ext cx="7688212" cy="742950"/>
          </a:xfrm>
        </p:spPr>
        <p:txBody>
          <a:bodyPr/>
          <a:lstStyle/>
          <a:p>
            <a:r>
              <a:rPr lang="de-DE" sz="2800" dirty="0"/>
              <a:t>ila </a:t>
            </a:r>
            <a:r>
              <a:rPr sz="2800" dirty="0"/>
              <a:t>schneller machen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Ausgangslage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Komplexes Umfeld mit hoher Abstimmungsdichte</a:t>
            </a:r>
          </a:p>
          <a:p>
            <a:r>
              <a:t>Reibung zwischen Fachlichkeit und Design</a:t>
            </a:r>
          </a:p>
          <a:p>
            <a:r>
              <a:t>Standard-Screens binden viel Designkapazität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Vorschlag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 erstellt Figma-Erstentwürfe auf Basis bestehender Muster</a:t>
            </a:r>
          </a:p>
          <a:p>
            <a:r>
              <a:t>Mensch bleibt für Entscheidung und Freigabe verantwortlich</a:t>
            </a:r>
          </a:p>
          <a:p>
            <a:r>
              <a:t>Fokus auf wiederkehrende Seitentypen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Pilot-Setup (4 Wochen)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Scope: 1 bis 2 Seitentypen</a:t>
            </a:r>
          </a:p>
          <a:p>
            <a:r>
              <a:t>Ablauf: Anforderung -&gt; Entwurf -&gt; Review -&gt; Freigabe</a:t>
            </a:r>
          </a:p>
          <a:p>
            <a:r>
              <a:t>Klare Rollen für Fachseite, Design, Technik, Projektleitung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Erfolgsmessung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Durchlaufzeit pro Screen</a:t>
            </a:r>
          </a:p>
          <a:p>
            <a:r>
              <a:t>Anzahl Korrekturschleifen</a:t>
            </a:r>
          </a:p>
          <a:p>
            <a:r>
              <a:t>Konsistenz nach Checkliste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Risiken und Absicherung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Uneinheitliche Ergebnisse -&gt; Regelset + Referenzscreens</a:t>
            </a:r>
          </a:p>
          <a:p>
            <a:r>
              <a:t>Rollenunklarheit -&gt; Verantwortlichkeiten vorab klären</a:t>
            </a:r>
          </a:p>
          <a:p>
            <a:r>
              <a:t>Grundsatzdebatte -&gt; Pilot eng auf Nutzen begrenzen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Nicht-Ziele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Kein vollständiger Ersatz von Design-Rollen</a:t>
            </a:r>
          </a:p>
          <a:p>
            <a:r>
              <a:t>Kein Big-Bang-Umbau</a:t>
            </a:r>
          </a:p>
          <a:p>
            <a:r>
              <a:t>Keine ungeprüfte Automatisierung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Entscheidung heute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Pilot für 4 Wochen freigeben</a:t>
            </a:r>
          </a:p>
          <a:p>
            <a:r>
              <a:t>Seitentypen und Verantwortliche festlegen</a:t>
            </a:r>
          </a:p>
          <a:p>
            <a:r>
              <a:t>Go/No-Go Termin am Pilotende setzen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KM_GrunddesignPPT">
  <a:themeElements>
    <a:clrScheme name="ppt-Vorlage_IQ-Standard_2011 15">
      <a:dk1>
        <a:srgbClr val="000000"/>
      </a:dk1>
      <a:lt1>
        <a:srgbClr val="FFFFFF"/>
      </a:lt1>
      <a:dk2>
        <a:srgbClr val="004B95"/>
      </a:dk2>
      <a:lt2>
        <a:srgbClr val="C0C0C0"/>
      </a:lt2>
      <a:accent1>
        <a:srgbClr val="799BC5"/>
      </a:accent1>
      <a:accent2>
        <a:srgbClr val="DB2D36"/>
      </a:accent2>
      <a:accent3>
        <a:srgbClr val="FFFFFF"/>
      </a:accent3>
      <a:accent4>
        <a:srgbClr val="000000"/>
      </a:accent4>
      <a:accent5>
        <a:srgbClr val="BECBDF"/>
      </a:accent5>
      <a:accent6>
        <a:srgbClr val="C62830"/>
      </a:accent6>
      <a:hlink>
        <a:srgbClr val="004B95"/>
      </a:hlink>
      <a:folHlink>
        <a:srgbClr val="808080"/>
      </a:folHlink>
    </a:clrScheme>
    <a:fontScheme name="ppt-Vorlage_IQ-Standard_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-Vorlage_IQ-Standard_2011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CCDE2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DAE3EE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5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6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FFCC00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mkb-folienvorlage_16zu9.pptx" id="{BA8D154A-E729-4E84-A4F1-AC64C705522D}" vid="{DC796774-9861-4D77-840E-A98AB6EA070D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057EFD54097B4438E7A80F3D1373265" ma:contentTypeVersion="1" ma:contentTypeDescription="Ein neues Dokument erstellen." ma:contentTypeScope="" ma:versionID="834bd551b14fcde88a9c6a4a0bf530df">
  <xsd:schema xmlns:xsd="http://www.w3.org/2001/XMLSchema" xmlns:xs="http://www.w3.org/2001/XMLSchema" xmlns:p="http://schemas.microsoft.com/office/2006/metadata/properties" xmlns:ns2="8637de2c-6bc0-411d-bf65-aa36b7f9c66d" targetNamespace="http://schemas.microsoft.com/office/2006/metadata/properties" ma:root="true" ma:fieldsID="e455fcda4cde3aa6122f413ba46336a9" ns2:_="">
    <xsd:import namespace="8637de2c-6bc0-411d-bf65-aa36b7f9c66d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7de2c-6bc0-411d-bf65-aa36b7f9c6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0017A1-94BC-4394-9852-7E0A4C91927E}">
  <ds:schemaRefs>
    <ds:schemaRef ds:uri="http://purl.org/dc/terms/"/>
    <ds:schemaRef ds:uri="8637de2c-6bc0-411d-bf65-aa36b7f9c66d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D209D72-484E-46E5-8AF5-E4C907679F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B246F-A24C-4FF5-9599-4E67AE3D46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37de2c-6bc0-411d-bf65-aa36b7f9c6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hmkb-folienvorlage_16zu9</Template>
  <TotalTime>0</TotalTime>
  <Words>131</Words>
  <Application>Microsoft Office PowerPoint</Application>
  <PresentationFormat>Bildschirmpräsentation (16:9)</PresentationFormat>
  <Paragraphs>30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4" baseType="lpstr">
      <vt:lpstr>ＭＳ Ｐゴシック</vt:lpstr>
      <vt:lpstr>Arial</vt:lpstr>
      <vt:lpstr>Courier New</vt:lpstr>
      <vt:lpstr>Symbol</vt:lpstr>
      <vt:lpstr>Wingdings</vt:lpstr>
      <vt:lpstr>HKM_GrunddesignPPT</vt:lpstr>
      <vt:lpstr>ila schneller machen</vt:lpstr>
      <vt:lpstr>Ausgangslage</vt:lpstr>
      <vt:lpstr>Vorschlag</vt:lpstr>
      <vt:lpstr>Pilot-Setup (4 Wochen)</vt:lpstr>
      <vt:lpstr>Erfolgsmessung</vt:lpstr>
      <vt:lpstr>Risiken und Absicherung</vt:lpstr>
      <vt:lpstr>Nicht-Ziele</vt:lpstr>
      <vt:lpstr>Entscheidung heute</vt:lpstr>
    </vt:vector>
  </TitlesOfParts>
  <Company>Land Hessen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Titelfolie – Standard</dc:title>
  <dc:creator>Rheingans, Kerstin (HMKB)</dc:creator>
  <cp:lastModifiedBy>Sarah Bonhoff - Kuubera UG</cp:lastModifiedBy>
  <cp:revision>7</cp:revision>
  <dcterms:created xsi:type="dcterms:W3CDTF">2025-04-16T11:33:11Z</dcterms:created>
  <dcterms:modified xsi:type="dcterms:W3CDTF">2026-03-11T16:30:42Z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0x0101000057EFD54097B4438E7A80F3D1373265</vt:lpwstr>
  </property>
</Properties>
</file>