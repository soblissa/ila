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4" r:id="rId4"/>
  </p:sldMasterIdLst>
  <p:notesMasterIdLst>
    <p:notesMasterId r:id="rId21"/>
  </p:notesMasterIdLst>
  <p:sldIdLst>
    <p:sldId id="260" r:id="rId5"/>
    <p:sldId id="273" r:id="rId6"/>
    <p:sldId id="268" r:id="rId7"/>
    <p:sldId id="270" r:id="rId8"/>
    <p:sldId id="271" r:id="rId9"/>
    <p:sldId id="274" r:id="rId10"/>
    <p:sldId id="269" r:id="rId11"/>
    <p:sldId id="276" r:id="rId12"/>
    <p:sldId id="277" r:id="rId13"/>
    <p:sldId id="281" r:id="rId14"/>
    <p:sldId id="279" r:id="rId15"/>
    <p:sldId id="283" r:id="rId16"/>
    <p:sldId id="282" r:id="rId17"/>
    <p:sldId id="284" r:id="rId18"/>
    <p:sldId id="285" r:id="rId19"/>
    <p:sldId id="278" r:id="rId20"/>
  </p:sldIdLst>
  <p:sldSz cx="9144000" cy="5143500" type="screen16x9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325C9178-5643-4A87-9C43-3CB903C149E0}">
          <p14:sldIdLst>
            <p14:sldId id="260"/>
          </p14:sldIdLst>
        </p14:section>
        <p14:section name="Anonymes Nutzerverhalten" id="{DBC041AB-37E7-4FCA-8588-114DFB8C330A}">
          <p14:sldIdLst>
            <p14:sldId id="273"/>
            <p14:sldId id="268"/>
            <p14:sldId id="270"/>
            <p14:sldId id="271"/>
            <p14:sldId id="274"/>
          </p14:sldIdLst>
        </p14:section>
        <p14:section name="integriertes Feedback" id="{A84ACCC1-E36D-452F-8813-F52346D916B7}">
          <p14:sldIdLst>
            <p14:sldId id="269"/>
            <p14:sldId id="276"/>
            <p14:sldId id="277"/>
            <p14:sldId id="281"/>
            <p14:sldId id="279"/>
          </p14:sldIdLst>
        </p14:section>
        <p14:section name="Fragebogen" id="{4FFCDF3C-00A6-4AA0-B42A-17AA9C83F4D8}">
          <p14:sldIdLst>
            <p14:sldId id="283"/>
            <p14:sldId id="282"/>
            <p14:sldId id="284"/>
            <p14:sldId id="285"/>
            <p14:sldId id="27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087"/>
    <a:srgbClr val="424178"/>
    <a:srgbClr val="C4323E"/>
    <a:srgbClr val="15468B"/>
    <a:srgbClr val="575F9B"/>
    <a:srgbClr val="C6313D"/>
    <a:srgbClr val="A3364D"/>
    <a:srgbClr val="683D67"/>
    <a:srgbClr val="C8313C"/>
    <a:srgbClr val="1E45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2132" autoAdjust="0"/>
  </p:normalViewPr>
  <p:slideViewPr>
    <p:cSldViewPr>
      <p:cViewPr varScale="1">
        <p:scale>
          <a:sx n="79" d="100"/>
          <a:sy n="79" d="100"/>
        </p:scale>
        <p:origin x="872" y="6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50BC10CD-ACBC-4E28-8D0F-D6CF02DF8468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07388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mp"/><Relationship Id="rId2" Type="http://schemas.openxmlformats.org/officeDocument/2006/relationships/hyperlink" Target="https://kultus.hessen.de/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 -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87362" y="1484487"/>
            <a:ext cx="8435975" cy="525773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72000" rIns="0" bIns="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lang="de-DE" sz="1650" noProof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57175" lvl="0" indent="-257175">
              <a:lnSpc>
                <a:spcPts val="1800"/>
              </a:lnSpc>
              <a:spcAft>
                <a:spcPct val="0"/>
              </a:spcAft>
            </a:pPr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12329" name="Rectangle 41"/>
          <p:cNvSpPr>
            <a:spLocks noGrp="1" noChangeArrowheads="1"/>
          </p:cNvSpPr>
          <p:nvPr>
            <p:ph type="ctrTitle" sz="quarter"/>
          </p:nvPr>
        </p:nvSpPr>
        <p:spPr>
          <a:xfrm>
            <a:off x="484188" y="673663"/>
            <a:ext cx="7688212" cy="74295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lang="de-DE" noProof="0" dirty="0" smtClean="0">
                <a:solidFill>
                  <a:srgbClr val="003087"/>
                </a:solidFill>
              </a:defRPr>
            </a:lvl1pPr>
          </a:lstStyle>
          <a:p>
            <a:pPr lv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17" name="Text Box 7"/>
          <p:cNvSpPr txBox="1">
            <a:spLocks noChangeArrowheads="1"/>
          </p:cNvSpPr>
          <p:nvPr userDrawn="1"/>
        </p:nvSpPr>
        <p:spPr bwMode="auto">
          <a:xfrm>
            <a:off x="496889" y="195719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087"/>
                </a:solidFill>
              </a:rPr>
              <a:t>Hessisches</a:t>
            </a:r>
            <a:r>
              <a:rPr lang="de-DE" sz="1050" b="1" baseline="0" dirty="0">
                <a:solidFill>
                  <a:srgbClr val="003087"/>
                </a:solidFill>
              </a:rPr>
              <a:t> Ministerium </a:t>
            </a:r>
            <a:br>
              <a:rPr lang="de-DE" sz="1050" b="1" baseline="0" dirty="0">
                <a:solidFill>
                  <a:srgbClr val="003087"/>
                </a:solidFill>
              </a:rPr>
            </a:br>
            <a:r>
              <a:rPr lang="de-DE" sz="1050" b="0" baseline="0" dirty="0">
                <a:solidFill>
                  <a:srgbClr val="003087"/>
                </a:solidFill>
              </a:rPr>
              <a:t>für Kultus, Bildung und Chancen</a:t>
            </a:r>
            <a:endParaRPr lang="de-DE" sz="900" b="0" dirty="0">
              <a:solidFill>
                <a:srgbClr val="003087"/>
              </a:solidFill>
            </a:endParaRPr>
          </a:p>
        </p:txBody>
      </p:sp>
      <p:grpSp>
        <p:nvGrpSpPr>
          <p:cNvPr id="14" name="Gruppieren 13"/>
          <p:cNvGrpSpPr/>
          <p:nvPr userDrawn="1"/>
        </p:nvGrpSpPr>
        <p:grpSpPr>
          <a:xfrm>
            <a:off x="1587" y="250031"/>
            <a:ext cx="253588" cy="1995488"/>
            <a:chOff x="1587" y="250031"/>
            <a:chExt cx="253588" cy="1995488"/>
          </a:xfrm>
        </p:grpSpPr>
        <p:sp>
          <p:nvSpPr>
            <p:cNvPr id="18" name="Rectangle 30"/>
            <p:cNvSpPr>
              <a:spLocks noChangeArrowheads="1"/>
            </p:cNvSpPr>
            <p:nvPr userDrawn="1"/>
          </p:nvSpPr>
          <p:spPr bwMode="auto">
            <a:xfrm>
              <a:off x="3175" y="250031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" name="Rectangle 31"/>
            <p:cNvSpPr>
              <a:spLocks noChangeArrowheads="1"/>
            </p:cNvSpPr>
            <p:nvPr userDrawn="1"/>
          </p:nvSpPr>
          <p:spPr bwMode="auto">
            <a:xfrm>
              <a:off x="3175" y="694135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0" name="Rectangle 32"/>
            <p:cNvSpPr>
              <a:spLocks noChangeArrowheads="1"/>
            </p:cNvSpPr>
            <p:nvPr userDrawn="1"/>
          </p:nvSpPr>
          <p:spPr bwMode="auto">
            <a:xfrm>
              <a:off x="3175" y="1138237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1" name="Rectangle 33"/>
            <p:cNvSpPr>
              <a:spLocks noChangeArrowheads="1"/>
            </p:cNvSpPr>
            <p:nvPr userDrawn="1"/>
          </p:nvSpPr>
          <p:spPr bwMode="auto">
            <a:xfrm>
              <a:off x="3175" y="1582341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Rectangle 34"/>
            <p:cNvSpPr>
              <a:spLocks noChangeArrowheads="1"/>
            </p:cNvSpPr>
            <p:nvPr userDrawn="1"/>
          </p:nvSpPr>
          <p:spPr bwMode="auto">
            <a:xfrm>
              <a:off x="1587" y="2030015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</p:grpSp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54935" y="250033"/>
            <a:ext cx="509553" cy="65960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Grafik 2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87" y="2029490"/>
            <a:ext cx="8890413" cy="311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247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- schl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496889" y="195719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087"/>
                </a:solidFill>
              </a:rPr>
              <a:t>Hessisches</a:t>
            </a:r>
            <a:r>
              <a:rPr lang="de-DE" sz="1050" b="1" baseline="0" dirty="0">
                <a:solidFill>
                  <a:srgbClr val="003087"/>
                </a:solidFill>
              </a:rPr>
              <a:t> Ministerium </a:t>
            </a:r>
            <a:br>
              <a:rPr lang="de-DE" sz="1050" b="1" baseline="0" dirty="0">
                <a:solidFill>
                  <a:srgbClr val="003087"/>
                </a:solidFill>
              </a:rPr>
            </a:br>
            <a:r>
              <a:rPr lang="de-DE" sz="1050" b="0" baseline="0" dirty="0">
                <a:solidFill>
                  <a:srgbClr val="003087"/>
                </a:solidFill>
              </a:rPr>
              <a:t>für Kultus, Bildung und Chancen</a:t>
            </a:r>
            <a:endParaRPr lang="de-DE" sz="900" b="0" dirty="0">
              <a:solidFill>
                <a:srgbClr val="003087"/>
              </a:solidFill>
            </a:endParaRPr>
          </a:p>
        </p:txBody>
      </p:sp>
      <p:sp>
        <p:nvSpPr>
          <p:cNvPr id="6" name="Rectangle 30"/>
          <p:cNvSpPr>
            <a:spLocks noChangeArrowheads="1"/>
          </p:cNvSpPr>
          <p:nvPr/>
        </p:nvSpPr>
        <p:spPr bwMode="auto">
          <a:xfrm>
            <a:off x="3175" y="250031"/>
            <a:ext cx="252000" cy="215504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7" name="Rectangle 31"/>
          <p:cNvSpPr>
            <a:spLocks noChangeArrowheads="1"/>
          </p:cNvSpPr>
          <p:nvPr/>
        </p:nvSpPr>
        <p:spPr bwMode="auto">
          <a:xfrm>
            <a:off x="3175" y="694135"/>
            <a:ext cx="252000" cy="215503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8" name="Rectangle 32"/>
          <p:cNvSpPr>
            <a:spLocks noChangeArrowheads="1"/>
          </p:cNvSpPr>
          <p:nvPr/>
        </p:nvSpPr>
        <p:spPr bwMode="auto">
          <a:xfrm>
            <a:off x="3175" y="1138237"/>
            <a:ext cx="252000" cy="215504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9" name="Rectangle 33"/>
          <p:cNvSpPr>
            <a:spLocks noChangeArrowheads="1"/>
          </p:cNvSpPr>
          <p:nvPr/>
        </p:nvSpPr>
        <p:spPr bwMode="auto">
          <a:xfrm>
            <a:off x="3175" y="1582341"/>
            <a:ext cx="252000" cy="215503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pic>
        <p:nvPicPr>
          <p:cNvPr id="11" name="Grafik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54935" y="250033"/>
            <a:ext cx="509553" cy="65960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87363" y="1488900"/>
            <a:ext cx="8477251" cy="525773"/>
          </a:xfrm>
        </p:spPr>
        <p:txBody>
          <a:bodyPr lIns="0" tIns="72000" rIns="0" bIns="0" anchor="t"/>
          <a:lstStyle>
            <a:lvl1pPr marL="0" indent="0">
              <a:lnSpc>
                <a:spcPts val="1800"/>
              </a:lnSpc>
              <a:spcAft>
                <a:spcPct val="0"/>
              </a:spcAft>
              <a:buFont typeface="Wingdings" pitchFamily="2" charset="2"/>
              <a:buNone/>
              <a:defRPr sz="1650"/>
            </a:lvl1pPr>
          </a:lstStyle>
          <a:p>
            <a:pPr lvl="0"/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87363" y="670322"/>
            <a:ext cx="8477251" cy="738188"/>
          </a:xfrm>
        </p:spPr>
        <p:txBody>
          <a:bodyPr lIns="0" rIns="0"/>
          <a:lstStyle>
            <a:lvl1pPr>
              <a:defRPr>
                <a:solidFill>
                  <a:srgbClr val="003087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" name="Rectangle 34"/>
          <p:cNvSpPr>
            <a:spLocks noChangeArrowheads="1"/>
          </p:cNvSpPr>
          <p:nvPr/>
        </p:nvSpPr>
        <p:spPr bwMode="auto">
          <a:xfrm>
            <a:off x="1587" y="2030015"/>
            <a:ext cx="252000" cy="215504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6" name="Rechteck 15"/>
          <p:cNvSpPr/>
          <p:nvPr userDrawn="1"/>
        </p:nvSpPr>
        <p:spPr>
          <a:xfrm>
            <a:off x="253587" y="2026444"/>
            <a:ext cx="8898053" cy="3117057"/>
          </a:xfrm>
          <a:prstGeom prst="rect">
            <a:avLst/>
          </a:prstGeom>
          <a:gradFill flip="none" rotWithShape="1">
            <a:gsLst>
              <a:gs pos="73000">
                <a:srgbClr val="C9D2E9"/>
              </a:gs>
              <a:gs pos="45000">
                <a:srgbClr val="607DB6"/>
              </a:gs>
              <a:gs pos="9000">
                <a:srgbClr val="003087"/>
              </a:gs>
              <a:gs pos="100000">
                <a:srgbClr val="F6F6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526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- mit eigenem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87362" y="1484487"/>
            <a:ext cx="8435975" cy="525773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72000" rIns="0" bIns="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lang="de-DE" sz="1650" noProof="0" dirty="0" smtClean="0"/>
            </a:lvl1pPr>
          </a:lstStyle>
          <a:p>
            <a:pPr marL="257175" lvl="0" indent="-257175">
              <a:lnSpc>
                <a:spcPts val="1800"/>
              </a:lnSpc>
              <a:spcAft>
                <a:spcPct val="0"/>
              </a:spcAft>
            </a:pPr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12329" name="Rectangle 41"/>
          <p:cNvSpPr>
            <a:spLocks noGrp="1" noChangeArrowheads="1"/>
          </p:cNvSpPr>
          <p:nvPr>
            <p:ph type="ctrTitle" sz="quarter"/>
          </p:nvPr>
        </p:nvSpPr>
        <p:spPr>
          <a:xfrm>
            <a:off x="484188" y="673663"/>
            <a:ext cx="7688212" cy="74295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lang="de-DE" noProof="0" dirty="0" smtClean="0">
                <a:solidFill>
                  <a:srgbClr val="003087"/>
                </a:solidFill>
              </a:defRPr>
            </a:lvl1pPr>
          </a:lstStyle>
          <a:p>
            <a:pPr lv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17" name="Text Box 7"/>
          <p:cNvSpPr txBox="1">
            <a:spLocks noChangeArrowheads="1"/>
          </p:cNvSpPr>
          <p:nvPr userDrawn="1"/>
        </p:nvSpPr>
        <p:spPr bwMode="auto">
          <a:xfrm>
            <a:off x="496889" y="195719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087"/>
                </a:solidFill>
              </a:rPr>
              <a:t>Hessisches</a:t>
            </a:r>
            <a:r>
              <a:rPr lang="de-DE" sz="1050" b="1" baseline="0" dirty="0">
                <a:solidFill>
                  <a:srgbClr val="003087"/>
                </a:solidFill>
              </a:rPr>
              <a:t> Ministerium </a:t>
            </a:r>
            <a:br>
              <a:rPr lang="de-DE" sz="1050" b="1" baseline="0" dirty="0">
                <a:solidFill>
                  <a:srgbClr val="003087"/>
                </a:solidFill>
              </a:rPr>
            </a:br>
            <a:r>
              <a:rPr lang="de-DE" sz="1050" b="0" baseline="0" dirty="0">
                <a:solidFill>
                  <a:srgbClr val="003087"/>
                </a:solidFill>
              </a:rPr>
              <a:t>für Kultus, Bildung und Chancen</a:t>
            </a:r>
            <a:endParaRPr lang="de-DE" sz="900" b="0" dirty="0">
              <a:solidFill>
                <a:srgbClr val="003087"/>
              </a:solidFill>
            </a:endParaRPr>
          </a:p>
        </p:txBody>
      </p:sp>
      <p:grpSp>
        <p:nvGrpSpPr>
          <p:cNvPr id="14" name="Gruppieren 13"/>
          <p:cNvGrpSpPr/>
          <p:nvPr userDrawn="1"/>
        </p:nvGrpSpPr>
        <p:grpSpPr>
          <a:xfrm>
            <a:off x="1587" y="250031"/>
            <a:ext cx="253588" cy="1995488"/>
            <a:chOff x="1587" y="250031"/>
            <a:chExt cx="253588" cy="1995488"/>
          </a:xfrm>
        </p:grpSpPr>
        <p:sp>
          <p:nvSpPr>
            <p:cNvPr id="16" name="Rectangle 30"/>
            <p:cNvSpPr>
              <a:spLocks noChangeArrowheads="1"/>
            </p:cNvSpPr>
            <p:nvPr userDrawn="1"/>
          </p:nvSpPr>
          <p:spPr bwMode="auto">
            <a:xfrm>
              <a:off x="3175" y="250031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8" name="Rectangle 31"/>
            <p:cNvSpPr>
              <a:spLocks noChangeArrowheads="1"/>
            </p:cNvSpPr>
            <p:nvPr userDrawn="1"/>
          </p:nvSpPr>
          <p:spPr bwMode="auto">
            <a:xfrm>
              <a:off x="3175" y="694135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" name="Rectangle 32"/>
            <p:cNvSpPr>
              <a:spLocks noChangeArrowheads="1"/>
            </p:cNvSpPr>
            <p:nvPr userDrawn="1"/>
          </p:nvSpPr>
          <p:spPr bwMode="auto">
            <a:xfrm>
              <a:off x="3175" y="1138237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1" name="Rectangle 33"/>
            <p:cNvSpPr>
              <a:spLocks noChangeArrowheads="1"/>
            </p:cNvSpPr>
            <p:nvPr userDrawn="1"/>
          </p:nvSpPr>
          <p:spPr bwMode="auto">
            <a:xfrm>
              <a:off x="3175" y="1582341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Rectangle 34"/>
            <p:cNvSpPr>
              <a:spLocks noChangeArrowheads="1"/>
            </p:cNvSpPr>
            <p:nvPr userDrawn="1"/>
          </p:nvSpPr>
          <p:spPr bwMode="auto">
            <a:xfrm>
              <a:off x="1587" y="2030015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</p:grpSp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54935" y="250033"/>
            <a:ext cx="509553" cy="65960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253587" y="2026444"/>
            <a:ext cx="8890413" cy="3117056"/>
          </a:xfrm>
        </p:spPr>
        <p:txBody>
          <a:bodyPr anchor="b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66007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-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7544" y="670322"/>
            <a:ext cx="8497069" cy="738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rgbClr val="003087"/>
                </a:solidFill>
              </a:defRPr>
            </a:lvl1pPr>
          </a:lstStyle>
          <a:p>
            <a:pPr lvl="0"/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28" name="Rectangle 19"/>
          <p:cNvSpPr>
            <a:spLocks noGrp="1" noChangeArrowheads="1"/>
          </p:cNvSpPr>
          <p:nvPr>
            <p:ph type="dt" sz="quarter" idx="10"/>
          </p:nvPr>
        </p:nvSpPr>
        <p:spPr>
          <a:xfrm>
            <a:off x="7380289" y="4837510"/>
            <a:ext cx="1576387" cy="219075"/>
          </a:xfrm>
          <a:prstGeom prst="rect">
            <a:avLst/>
          </a:prstGeom>
        </p:spPr>
        <p:txBody>
          <a:bodyPr anchor="b" anchorCtr="0"/>
          <a:lstStyle>
            <a:lvl1pPr algn="r" eaLnBrk="0" hangingPunct="0">
              <a:defRPr sz="900" smtClean="0">
                <a:ea typeface="ＭＳ Ｐゴシック" pitchFamily="34" charset="-128"/>
              </a:defRPr>
            </a:lvl1pPr>
          </a:lstStyle>
          <a:p>
            <a:pPr>
              <a:defRPr/>
            </a:pPr>
            <a:fld id="{880D8169-47E9-4C41-A2C1-0ACE90524791}" type="datetime1">
              <a:rPr lang="de-DE" smtClean="0"/>
              <a:t>11.04.2026</a:t>
            </a:fld>
            <a:endParaRPr lang="de-DE" dirty="0"/>
          </a:p>
        </p:txBody>
      </p:sp>
      <p:sp>
        <p:nvSpPr>
          <p:cNvPr id="29" name="Rectangle 20"/>
          <p:cNvSpPr>
            <a:spLocks noGrp="1" noChangeArrowheads="1"/>
          </p:cNvSpPr>
          <p:nvPr>
            <p:ph type="ftr" sz="quarter" idx="11"/>
          </p:nvPr>
        </p:nvSpPr>
        <p:spPr>
          <a:xfrm>
            <a:off x="1331914" y="4839891"/>
            <a:ext cx="5976937" cy="216694"/>
          </a:xfrm>
          <a:prstGeom prst="rect">
            <a:avLst/>
          </a:prstGeom>
        </p:spPr>
        <p:txBody>
          <a:bodyPr anchor="b" anchorCtr="0"/>
          <a:lstStyle>
            <a:lvl1pPr eaLnBrk="0" hangingPunct="0">
              <a:defRPr sz="900" smtClean="0">
                <a:ea typeface="ＭＳ Ｐゴシック" pitchFamily="34" charset="-128"/>
              </a:defRPr>
            </a:lvl1pPr>
          </a:lstStyle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30" name="Rectangle 2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552450" y="4839891"/>
            <a:ext cx="706438" cy="225028"/>
          </a:xfrm>
          <a:prstGeom prst="rect">
            <a:avLst/>
          </a:prstGeom>
        </p:spPr>
        <p:txBody>
          <a:bodyPr/>
          <a:lstStyle>
            <a:lvl1pPr eaLnBrk="0" hangingPunct="0">
              <a:defRPr sz="1050" b="1" smtClean="0">
                <a:solidFill>
                  <a:schemeClr val="bg1">
                    <a:lumMod val="50000"/>
                  </a:schemeClr>
                </a:solidFill>
                <a:ea typeface="ＭＳ Ｐゴシック" pitchFamily="34" charset="-128"/>
              </a:defRPr>
            </a:lvl1pPr>
          </a:lstStyle>
          <a:p>
            <a:pPr>
              <a:defRPr/>
            </a:pPr>
            <a:fld id="{EF82B18D-C707-4786-8163-FFCD341314AB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3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67545" y="1545432"/>
            <a:ext cx="8484370" cy="3240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Clr>
                <a:srgbClr val="003087"/>
              </a:buClr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60432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ndardfolie mit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253587" y="692944"/>
            <a:ext cx="8890413" cy="918000"/>
          </a:xfrm>
          <a:prstGeom prst="rect">
            <a:avLst/>
          </a:prstGeom>
          <a:gradFill flip="none" rotWithShape="1">
            <a:gsLst>
              <a:gs pos="27000">
                <a:srgbClr val="6E89BD"/>
              </a:gs>
              <a:gs pos="0">
                <a:srgbClr val="003087"/>
              </a:gs>
              <a:gs pos="56000">
                <a:srgbClr val="CBD4EA"/>
              </a:gs>
              <a:gs pos="93000">
                <a:srgbClr val="F6F6FF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 21"/>
          <p:cNvSpPr/>
          <p:nvPr userDrawn="1"/>
        </p:nvSpPr>
        <p:spPr>
          <a:xfrm>
            <a:off x="253586" y="1579960"/>
            <a:ext cx="8890413" cy="3203655"/>
          </a:xfrm>
          <a:prstGeom prst="rect">
            <a:avLst/>
          </a:prstGeom>
          <a:gradFill flip="none" rotWithShape="1">
            <a:gsLst>
              <a:gs pos="67000">
                <a:srgbClr val="C5CFE7"/>
              </a:gs>
              <a:gs pos="37500">
                <a:srgbClr val="5C7AB4"/>
              </a:gs>
              <a:gs pos="0">
                <a:srgbClr val="003087"/>
              </a:gs>
              <a:gs pos="94000">
                <a:srgbClr val="F6F6FF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6889" y="670322"/>
            <a:ext cx="8467724" cy="738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rgbClr val="003087"/>
                </a:solidFill>
              </a:defRPr>
            </a:lvl1pPr>
          </a:lstStyle>
          <a:p>
            <a:pPr lvl="0"/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Rectangle 19"/>
          <p:cNvSpPr>
            <a:spLocks noGrp="1" noChangeArrowheads="1"/>
          </p:cNvSpPr>
          <p:nvPr>
            <p:ph type="dt" sz="quarter" idx="10"/>
          </p:nvPr>
        </p:nvSpPr>
        <p:spPr>
          <a:xfrm>
            <a:off x="7380289" y="4837510"/>
            <a:ext cx="1576387" cy="219075"/>
          </a:xfrm>
          <a:prstGeom prst="rect">
            <a:avLst/>
          </a:prstGeom>
        </p:spPr>
        <p:txBody>
          <a:bodyPr anchor="b" anchorCtr="0"/>
          <a:lstStyle>
            <a:lvl1pPr algn="r" eaLnBrk="0" hangingPunct="0">
              <a:defRPr sz="900" smtClean="0">
                <a:ea typeface="ＭＳ Ｐゴシック" pitchFamily="34" charset="-128"/>
              </a:defRPr>
            </a:lvl1pPr>
          </a:lstStyle>
          <a:p>
            <a:pPr>
              <a:defRPr/>
            </a:pPr>
            <a:fld id="{826AF04E-2C42-4D7D-9FA6-0895B2147FEF}" type="datetime1">
              <a:rPr lang="de-DE" smtClean="0"/>
              <a:t>11.04.2026</a:t>
            </a:fld>
            <a:endParaRPr lang="de-DE" dirty="0"/>
          </a:p>
        </p:txBody>
      </p:sp>
      <p:sp>
        <p:nvSpPr>
          <p:cNvPr id="12" name="Rectangle 20"/>
          <p:cNvSpPr>
            <a:spLocks noGrp="1" noChangeArrowheads="1"/>
          </p:cNvSpPr>
          <p:nvPr>
            <p:ph type="ftr" sz="quarter" idx="11"/>
          </p:nvPr>
        </p:nvSpPr>
        <p:spPr>
          <a:xfrm>
            <a:off x="1331914" y="4839891"/>
            <a:ext cx="5976937" cy="216694"/>
          </a:xfrm>
          <a:prstGeom prst="rect">
            <a:avLst/>
          </a:prstGeom>
        </p:spPr>
        <p:txBody>
          <a:bodyPr anchor="b" anchorCtr="0"/>
          <a:lstStyle>
            <a:lvl1pPr eaLnBrk="0" hangingPunct="0">
              <a:defRPr sz="900" smtClean="0">
                <a:ea typeface="ＭＳ Ｐゴシック" pitchFamily="34" charset="-128"/>
              </a:defRPr>
            </a:lvl1pPr>
          </a:lstStyle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13" name="Rectangle 2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552450" y="4839891"/>
            <a:ext cx="706438" cy="225028"/>
          </a:xfrm>
          <a:prstGeom prst="rect">
            <a:avLst/>
          </a:prstGeom>
        </p:spPr>
        <p:txBody>
          <a:bodyPr/>
          <a:lstStyle>
            <a:lvl1pPr eaLnBrk="0" hangingPunct="0">
              <a:defRPr sz="1050" b="1" smtClean="0">
                <a:solidFill>
                  <a:schemeClr val="bg1">
                    <a:lumMod val="50000"/>
                  </a:schemeClr>
                </a:solidFill>
                <a:ea typeface="ＭＳ Ｐゴシック" pitchFamily="34" charset="-128"/>
              </a:defRPr>
            </a:lvl1pPr>
          </a:lstStyle>
          <a:p>
            <a:pPr>
              <a:defRPr/>
            </a:pPr>
            <a:fld id="{EF82B18D-C707-4786-8163-FFCD341314AB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23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503999" y="1582341"/>
            <a:ext cx="8447915" cy="3203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Clr>
                <a:srgbClr val="003087"/>
              </a:buClr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5" name="Text Box 7"/>
          <p:cNvSpPr txBox="1">
            <a:spLocks noChangeArrowheads="1"/>
          </p:cNvSpPr>
          <p:nvPr userDrawn="1"/>
        </p:nvSpPr>
        <p:spPr bwMode="auto">
          <a:xfrm>
            <a:off x="496889" y="189310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695"/>
                </a:solidFill>
              </a:rPr>
              <a:t>Hessisches</a:t>
            </a:r>
            <a:r>
              <a:rPr lang="de-DE" sz="1050" b="1" baseline="0" dirty="0">
                <a:solidFill>
                  <a:srgbClr val="003695"/>
                </a:solidFill>
              </a:rPr>
              <a:t> Ministerium </a:t>
            </a:r>
            <a:br>
              <a:rPr lang="de-DE" sz="1050" b="1" baseline="0" dirty="0">
                <a:solidFill>
                  <a:srgbClr val="003695"/>
                </a:solidFill>
              </a:rPr>
            </a:br>
            <a:r>
              <a:rPr lang="de-DE" sz="1050" b="0" baseline="0" dirty="0">
                <a:solidFill>
                  <a:srgbClr val="003695"/>
                </a:solidFill>
              </a:rPr>
              <a:t>für Kultus, Bildung und Chancen</a:t>
            </a:r>
            <a:endParaRPr lang="de-DE" sz="900" b="0" dirty="0">
              <a:solidFill>
                <a:srgbClr val="003695"/>
              </a:solidFill>
            </a:endParaRPr>
          </a:p>
        </p:txBody>
      </p:sp>
      <p:grpSp>
        <p:nvGrpSpPr>
          <p:cNvPr id="24" name="Gruppieren 23"/>
          <p:cNvGrpSpPr/>
          <p:nvPr userDrawn="1"/>
        </p:nvGrpSpPr>
        <p:grpSpPr>
          <a:xfrm>
            <a:off x="1587" y="250031"/>
            <a:ext cx="253588" cy="1995488"/>
            <a:chOff x="1587" y="250031"/>
            <a:chExt cx="253588" cy="1995488"/>
          </a:xfrm>
        </p:grpSpPr>
        <p:sp>
          <p:nvSpPr>
            <p:cNvPr id="26" name="Rectangle 30"/>
            <p:cNvSpPr>
              <a:spLocks noChangeArrowheads="1"/>
            </p:cNvSpPr>
            <p:nvPr userDrawn="1"/>
          </p:nvSpPr>
          <p:spPr bwMode="auto">
            <a:xfrm>
              <a:off x="3175" y="250031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7" name="Rectangle 31"/>
            <p:cNvSpPr>
              <a:spLocks noChangeArrowheads="1"/>
            </p:cNvSpPr>
            <p:nvPr userDrawn="1"/>
          </p:nvSpPr>
          <p:spPr bwMode="auto">
            <a:xfrm>
              <a:off x="3175" y="694135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8" name="Rectangle 32"/>
            <p:cNvSpPr>
              <a:spLocks noChangeArrowheads="1"/>
            </p:cNvSpPr>
            <p:nvPr userDrawn="1"/>
          </p:nvSpPr>
          <p:spPr bwMode="auto">
            <a:xfrm>
              <a:off x="3175" y="1138237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9" name="Rectangle 33"/>
            <p:cNvSpPr>
              <a:spLocks noChangeArrowheads="1"/>
            </p:cNvSpPr>
            <p:nvPr userDrawn="1"/>
          </p:nvSpPr>
          <p:spPr bwMode="auto">
            <a:xfrm>
              <a:off x="3175" y="1582341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30" name="Rectangle 34"/>
            <p:cNvSpPr>
              <a:spLocks noChangeArrowheads="1"/>
            </p:cNvSpPr>
            <p:nvPr userDrawn="1"/>
          </p:nvSpPr>
          <p:spPr bwMode="auto">
            <a:xfrm>
              <a:off x="1587" y="2030015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</p:grpSp>
      <p:pic>
        <p:nvPicPr>
          <p:cNvPr id="17" name="Grafik 16" descr="Bildschirmausschnitt">
            <a:hlinkClick r:id="rId2"/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8404" y="227072"/>
            <a:ext cx="1141387" cy="306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099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544" y="670322"/>
            <a:ext cx="8497069" cy="738188"/>
          </a:xfrm>
        </p:spPr>
        <p:txBody>
          <a:bodyPr/>
          <a:lstStyle>
            <a:lvl1pPr>
              <a:defRPr>
                <a:solidFill>
                  <a:srgbClr val="003087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A2DC49A-64FA-4C3F-80F3-AF205E2A1F91}" type="datetime1">
              <a:rPr lang="de-DE" smtClean="0"/>
              <a:t>11.04.2026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716016" y="1545637"/>
            <a:ext cx="4240083" cy="3240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3"/>
          </p:nvPr>
        </p:nvSpPr>
        <p:spPr bwMode="auto">
          <a:xfrm>
            <a:off x="467544" y="1545637"/>
            <a:ext cx="4152223" cy="3240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46393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nur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544" y="670322"/>
            <a:ext cx="8497069" cy="73818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70C90F2-01D9-4AA5-A85C-27A63631B086}" type="datetime1">
              <a:rPr lang="de-DE" smtClean="0"/>
              <a:t>11.04.2026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0343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o-Folie - ohne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8251A07-1F74-4A98-82D5-CBD0DE5164A2}" type="datetime1">
              <a:rPr lang="de-DE" smtClean="0"/>
              <a:t>11.04.2026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58762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o-Folie -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45" y="689263"/>
            <a:ext cx="8882955" cy="4114735"/>
          </a:xfrm>
          <a:prstGeom prst="rect">
            <a:avLst/>
          </a:prstGeom>
        </p:spPr>
      </p:pic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61FF7AE-E47F-48DC-9035-E2B5C6B71021}" type="datetime1">
              <a:rPr lang="de-DE" smtClean="0"/>
              <a:t>11.04.2026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23715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o-Folie - schl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251520" y="690891"/>
            <a:ext cx="8892480" cy="4102075"/>
          </a:xfrm>
          <a:prstGeom prst="rect">
            <a:avLst/>
          </a:prstGeom>
          <a:gradFill flip="none" rotWithShape="1">
            <a:gsLst>
              <a:gs pos="62000">
                <a:srgbClr val="B2C0DE"/>
              </a:gs>
              <a:gs pos="24000">
                <a:srgbClr val="345AA1"/>
              </a:gs>
              <a:gs pos="0">
                <a:srgbClr val="003087"/>
              </a:gs>
              <a:gs pos="95000">
                <a:srgbClr val="F6F6FF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2FB9BE8-06FC-498B-A6B6-27E04BB94BBC}" type="datetime1">
              <a:rPr lang="de-DE" smtClean="0"/>
              <a:t>11.04.2026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44208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zweigetei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ABC6915-E11F-44E2-A087-31E6B6A359CE}" type="datetime1">
              <a:rPr lang="de-DE" smtClean="0"/>
              <a:t>11.04.2026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707904" y="685800"/>
            <a:ext cx="5256584" cy="4046190"/>
          </a:xfrm>
        </p:spPr>
        <p:txBody>
          <a:bodyPr>
            <a:normAutofit/>
          </a:bodyPr>
          <a:lstStyle>
            <a:lvl1pPr eaLnBrk="1" latinLnBrk="0" hangingPunct="1">
              <a:defRPr kumimoji="0" lang="de-DE" sz="1800"/>
            </a:lvl1pPr>
            <a:lvl2pPr eaLnBrk="1" latinLnBrk="0" hangingPunct="1">
              <a:defRPr kumimoji="0" lang="de-DE" sz="1500"/>
            </a:lvl2pPr>
            <a:lvl3pPr eaLnBrk="1" latinLnBrk="0" hangingPunct="1">
              <a:defRPr kumimoji="0" lang="de-DE" sz="1350"/>
            </a:lvl3pPr>
            <a:lvl4pPr eaLnBrk="1" latinLnBrk="0" hangingPunct="1">
              <a:defRPr kumimoji="0" lang="de-DE" sz="1200"/>
            </a:lvl4pPr>
            <a:lvl5pPr eaLnBrk="1" latinLnBrk="0" hangingPunct="1">
              <a:defRPr kumimoji="0" lang="de-DE" sz="1200"/>
            </a:lvl5pPr>
            <a:lvl6pPr eaLnBrk="1" latinLnBrk="0" hangingPunct="1">
              <a:defRPr kumimoji="0" lang="de-DE" sz="1500"/>
            </a:lvl6pPr>
            <a:lvl7pPr eaLnBrk="1" latinLnBrk="0" hangingPunct="1">
              <a:defRPr kumimoji="0" lang="de-DE" sz="1500"/>
            </a:lvl7pPr>
            <a:lvl8pPr eaLnBrk="1" latinLnBrk="0" hangingPunct="1">
              <a:defRPr kumimoji="0" lang="de-DE" sz="1500"/>
            </a:lvl8pPr>
            <a:lvl9pPr eaLnBrk="1" latinLnBrk="0" hangingPunct="1">
              <a:defRPr kumimoji="0" lang="de-DE" sz="1500"/>
            </a:lvl9pPr>
          </a:lstStyle>
          <a:p>
            <a:pPr lvl="0" eaLnBrk="1" latinLnBrk="0" hangingPunct="1"/>
            <a:r>
              <a:rPr lang="de-DE"/>
              <a:t>Mastertextformat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576" y="1509918"/>
            <a:ext cx="3008313" cy="3240360"/>
          </a:xfrm>
        </p:spPr>
        <p:txBody>
          <a:bodyPr/>
          <a:lstStyle>
            <a:lvl1pPr marL="0" indent="0" eaLnBrk="1" latinLnBrk="0" hangingPunct="1">
              <a:buNone/>
              <a:defRPr kumimoji="0" lang="de-DE" sz="1050"/>
            </a:lvl1pPr>
            <a:lvl2pPr marL="342900" indent="0" eaLnBrk="1" latinLnBrk="0" hangingPunct="1">
              <a:buNone/>
              <a:defRPr kumimoji="0" lang="de-DE" sz="900"/>
            </a:lvl2pPr>
            <a:lvl3pPr marL="685800" indent="0" eaLnBrk="1" latinLnBrk="0" hangingPunct="1">
              <a:buNone/>
              <a:defRPr kumimoji="0" lang="de-DE" sz="750"/>
            </a:lvl3pPr>
            <a:lvl4pPr marL="1028700" indent="0" eaLnBrk="1" latinLnBrk="0" hangingPunct="1">
              <a:buNone/>
              <a:defRPr kumimoji="0" lang="de-DE" sz="675"/>
            </a:lvl4pPr>
            <a:lvl5pPr marL="1371600" indent="0" eaLnBrk="1" latinLnBrk="0" hangingPunct="1">
              <a:buNone/>
              <a:defRPr kumimoji="0" lang="de-DE" sz="675"/>
            </a:lvl5pPr>
            <a:lvl6pPr marL="1714500" indent="0" eaLnBrk="1" latinLnBrk="0" hangingPunct="1">
              <a:buNone/>
              <a:defRPr kumimoji="0" lang="de-DE" sz="675"/>
            </a:lvl6pPr>
            <a:lvl7pPr marL="2057400" indent="0" eaLnBrk="1" latinLnBrk="0" hangingPunct="1">
              <a:buNone/>
              <a:defRPr kumimoji="0" lang="de-DE" sz="675"/>
            </a:lvl7pPr>
            <a:lvl8pPr marL="2400300" indent="0" eaLnBrk="1" latinLnBrk="0" hangingPunct="1">
              <a:buNone/>
              <a:defRPr kumimoji="0" lang="de-DE" sz="675"/>
            </a:lvl8pPr>
            <a:lvl9pPr marL="2743200" indent="0" eaLnBrk="1" latinLnBrk="0" hangingPunct="1">
              <a:buNone/>
              <a:defRPr kumimoji="0" lang="de-DE" sz="675"/>
            </a:lvl9pPr>
          </a:lstStyle>
          <a:p>
            <a:pPr lvl="0" eaLnBrk="1" latinLnBrk="0" hangingPunct="1"/>
            <a:r>
              <a:rPr lang="de-DE"/>
              <a:t>Mastertextformat bearbeiten</a:t>
            </a:r>
          </a:p>
        </p:txBody>
      </p:sp>
      <p:sp>
        <p:nvSpPr>
          <p:cNvPr id="10" name="Titel 1"/>
          <p:cNvSpPr>
            <a:spLocks noGrp="1"/>
          </p:cNvSpPr>
          <p:nvPr>
            <p:ph type="title"/>
          </p:nvPr>
        </p:nvSpPr>
        <p:spPr>
          <a:xfrm>
            <a:off x="552451" y="737379"/>
            <a:ext cx="3011438" cy="605284"/>
          </a:xfrm>
        </p:spPr>
        <p:txBody>
          <a:bodyPr anchor="t"/>
          <a:lstStyle>
            <a:lvl1pPr>
              <a:defRPr sz="1350">
                <a:solidFill>
                  <a:srgbClr val="003087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73265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zweigeteilt mit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/>
          <p:cNvSpPr/>
          <p:nvPr userDrawn="1"/>
        </p:nvSpPr>
        <p:spPr>
          <a:xfrm>
            <a:off x="251520" y="690891"/>
            <a:ext cx="8892480" cy="4102075"/>
          </a:xfrm>
          <a:prstGeom prst="rect">
            <a:avLst/>
          </a:prstGeom>
          <a:gradFill flip="none" rotWithShape="1">
            <a:gsLst>
              <a:gs pos="62000">
                <a:srgbClr val="B2C0DE"/>
              </a:gs>
              <a:gs pos="24000">
                <a:srgbClr val="345AA1"/>
              </a:gs>
              <a:gs pos="0">
                <a:srgbClr val="003087"/>
              </a:gs>
              <a:gs pos="95000">
                <a:srgbClr val="F6F6FF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D85C73B-8746-43D2-B2DF-264E9B26874F}" type="datetime1">
              <a:rPr lang="de-DE" smtClean="0"/>
              <a:t>11.04.2026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707904" y="685800"/>
            <a:ext cx="5256584" cy="4046190"/>
          </a:xfrm>
        </p:spPr>
        <p:txBody>
          <a:bodyPr>
            <a:normAutofit/>
          </a:bodyPr>
          <a:lstStyle>
            <a:lvl1pPr eaLnBrk="1" latinLnBrk="0" hangingPunct="1">
              <a:defRPr kumimoji="0" lang="de-DE" sz="1800"/>
            </a:lvl1pPr>
            <a:lvl2pPr eaLnBrk="1" latinLnBrk="0" hangingPunct="1">
              <a:defRPr kumimoji="0" lang="de-DE" sz="1500"/>
            </a:lvl2pPr>
            <a:lvl3pPr eaLnBrk="1" latinLnBrk="0" hangingPunct="1">
              <a:defRPr kumimoji="0" lang="de-DE" sz="1350"/>
            </a:lvl3pPr>
            <a:lvl4pPr eaLnBrk="1" latinLnBrk="0" hangingPunct="1">
              <a:defRPr kumimoji="0" lang="de-DE" sz="1200"/>
            </a:lvl4pPr>
            <a:lvl5pPr eaLnBrk="1" latinLnBrk="0" hangingPunct="1">
              <a:defRPr kumimoji="0" lang="de-DE" sz="1200"/>
            </a:lvl5pPr>
            <a:lvl6pPr eaLnBrk="1" latinLnBrk="0" hangingPunct="1">
              <a:defRPr kumimoji="0" lang="de-DE" sz="1500"/>
            </a:lvl6pPr>
            <a:lvl7pPr eaLnBrk="1" latinLnBrk="0" hangingPunct="1">
              <a:defRPr kumimoji="0" lang="de-DE" sz="1500"/>
            </a:lvl7pPr>
            <a:lvl8pPr eaLnBrk="1" latinLnBrk="0" hangingPunct="1">
              <a:defRPr kumimoji="0" lang="de-DE" sz="1500"/>
            </a:lvl8pPr>
            <a:lvl9pPr eaLnBrk="1" latinLnBrk="0" hangingPunct="1">
              <a:defRPr kumimoji="0" lang="de-DE" sz="1500"/>
            </a:lvl9pPr>
          </a:lstStyle>
          <a:p>
            <a:pPr lvl="0" eaLnBrk="1" latinLnBrk="0" hangingPunct="1"/>
            <a:r>
              <a:rPr lang="de-DE"/>
              <a:t>Mastertextformat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576" y="1347614"/>
            <a:ext cx="3008313" cy="3384376"/>
          </a:xfrm>
        </p:spPr>
        <p:txBody>
          <a:bodyPr/>
          <a:lstStyle>
            <a:lvl1pPr marL="0" indent="0" eaLnBrk="1" latinLnBrk="0" hangingPunct="1">
              <a:buNone/>
              <a:defRPr kumimoji="0" lang="de-DE" sz="1050"/>
            </a:lvl1pPr>
            <a:lvl2pPr marL="342900" indent="0" eaLnBrk="1" latinLnBrk="0" hangingPunct="1">
              <a:buNone/>
              <a:defRPr kumimoji="0" lang="de-DE" sz="900"/>
            </a:lvl2pPr>
            <a:lvl3pPr marL="685800" indent="0" eaLnBrk="1" latinLnBrk="0" hangingPunct="1">
              <a:buNone/>
              <a:defRPr kumimoji="0" lang="de-DE" sz="750"/>
            </a:lvl3pPr>
            <a:lvl4pPr marL="1028700" indent="0" eaLnBrk="1" latinLnBrk="0" hangingPunct="1">
              <a:buNone/>
              <a:defRPr kumimoji="0" lang="de-DE" sz="675"/>
            </a:lvl4pPr>
            <a:lvl5pPr marL="1371600" indent="0" eaLnBrk="1" latinLnBrk="0" hangingPunct="1">
              <a:buNone/>
              <a:defRPr kumimoji="0" lang="de-DE" sz="675"/>
            </a:lvl5pPr>
            <a:lvl6pPr marL="1714500" indent="0" eaLnBrk="1" latinLnBrk="0" hangingPunct="1">
              <a:buNone/>
              <a:defRPr kumimoji="0" lang="de-DE" sz="675"/>
            </a:lvl6pPr>
            <a:lvl7pPr marL="2057400" indent="0" eaLnBrk="1" latinLnBrk="0" hangingPunct="1">
              <a:buNone/>
              <a:defRPr kumimoji="0" lang="de-DE" sz="675"/>
            </a:lvl7pPr>
            <a:lvl8pPr marL="2400300" indent="0" eaLnBrk="1" latinLnBrk="0" hangingPunct="1">
              <a:buNone/>
              <a:defRPr kumimoji="0" lang="de-DE" sz="675"/>
            </a:lvl8pPr>
            <a:lvl9pPr marL="2743200" indent="0" eaLnBrk="1" latinLnBrk="0" hangingPunct="1">
              <a:buNone/>
              <a:defRPr kumimoji="0" lang="de-DE" sz="675"/>
            </a:lvl9pPr>
          </a:lstStyle>
          <a:p>
            <a:pPr lvl="0" eaLnBrk="1" latinLnBrk="0" hangingPunct="1"/>
            <a:r>
              <a:rPr lang="de-DE"/>
              <a:t>Mastertextformat bearbeiten</a:t>
            </a:r>
          </a:p>
        </p:txBody>
      </p:sp>
      <p:sp>
        <p:nvSpPr>
          <p:cNvPr id="10" name="Titel 1"/>
          <p:cNvSpPr>
            <a:spLocks noGrp="1"/>
          </p:cNvSpPr>
          <p:nvPr>
            <p:ph type="title"/>
          </p:nvPr>
        </p:nvSpPr>
        <p:spPr>
          <a:xfrm>
            <a:off x="552450" y="734973"/>
            <a:ext cx="3011438" cy="504057"/>
          </a:xfrm>
        </p:spPr>
        <p:txBody>
          <a:bodyPr anchor="t"/>
          <a:lstStyle>
            <a:lvl1pPr>
              <a:defRPr sz="1350">
                <a:solidFill>
                  <a:srgbClr val="003087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49796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tm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kultus.hessen.de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1813" y="670322"/>
            <a:ext cx="8432800" cy="738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9144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Titelmasterformat durch Klicken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41339" y="1545432"/>
            <a:ext cx="8410575" cy="3240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5" name="Rectangle 19"/>
          <p:cNvSpPr>
            <a:spLocks noGrp="1" noChangeArrowheads="1"/>
          </p:cNvSpPr>
          <p:nvPr>
            <p:ph type="dt" sz="quarter" idx="2"/>
          </p:nvPr>
        </p:nvSpPr>
        <p:spPr>
          <a:xfrm>
            <a:off x="7380289" y="4837510"/>
            <a:ext cx="1576387" cy="219075"/>
          </a:xfrm>
          <a:prstGeom prst="rect">
            <a:avLst/>
          </a:prstGeom>
        </p:spPr>
        <p:txBody>
          <a:bodyPr/>
          <a:lstStyle>
            <a:lvl1pPr algn="r" eaLnBrk="0" hangingPunct="0">
              <a:defRPr sz="900" smtClean="0">
                <a:ea typeface="ＭＳ Ｐゴシック" pitchFamily="34" charset="-128"/>
              </a:defRPr>
            </a:lvl1pPr>
          </a:lstStyle>
          <a:p>
            <a:pPr>
              <a:defRPr/>
            </a:pPr>
            <a:fld id="{7C1E37B6-3E02-4C4C-884B-FC01FA70DD6A}" type="datetime1">
              <a:rPr lang="de-DE" smtClean="0"/>
              <a:t>11.04.2026</a:t>
            </a:fld>
            <a:endParaRPr lang="de-DE" dirty="0"/>
          </a:p>
        </p:txBody>
      </p:sp>
      <p:sp>
        <p:nvSpPr>
          <p:cNvPr id="16" name="Rectangle 20"/>
          <p:cNvSpPr>
            <a:spLocks noGrp="1" noChangeArrowheads="1"/>
          </p:cNvSpPr>
          <p:nvPr>
            <p:ph type="ftr" sz="quarter" idx="3"/>
          </p:nvPr>
        </p:nvSpPr>
        <p:spPr>
          <a:xfrm>
            <a:off x="1331914" y="4839891"/>
            <a:ext cx="5976937" cy="216694"/>
          </a:xfrm>
          <a:prstGeom prst="rect">
            <a:avLst/>
          </a:prstGeom>
        </p:spPr>
        <p:txBody>
          <a:bodyPr/>
          <a:lstStyle>
            <a:lvl1pPr eaLnBrk="0" hangingPunct="0">
              <a:defRPr sz="900" smtClean="0">
                <a:ea typeface="ＭＳ Ｐゴシック" pitchFamily="34" charset="-128"/>
              </a:defRPr>
            </a:lvl1pPr>
          </a:lstStyle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17" name="Rectangle 21"/>
          <p:cNvSpPr>
            <a:spLocks noGrp="1" noChangeArrowheads="1"/>
          </p:cNvSpPr>
          <p:nvPr>
            <p:ph type="sldNum" sz="quarter" idx="4"/>
          </p:nvPr>
        </p:nvSpPr>
        <p:spPr>
          <a:xfrm>
            <a:off x="552450" y="4839891"/>
            <a:ext cx="706438" cy="225028"/>
          </a:xfrm>
          <a:prstGeom prst="rect">
            <a:avLst/>
          </a:prstGeom>
        </p:spPr>
        <p:txBody>
          <a:bodyPr/>
          <a:lstStyle>
            <a:lvl1pPr eaLnBrk="0" hangingPunct="0">
              <a:defRPr sz="1050" b="1" smtClean="0">
                <a:solidFill>
                  <a:schemeClr val="bg1">
                    <a:lumMod val="50000"/>
                  </a:schemeClr>
                </a:solidFill>
                <a:ea typeface="ＭＳ Ｐゴシック" pitchFamily="34" charset="-128"/>
              </a:defRPr>
            </a:lvl1pPr>
          </a:lstStyle>
          <a:p>
            <a:pPr>
              <a:defRPr/>
            </a:pPr>
            <a:fld id="{EF82B18D-C707-4786-8163-FFCD341314AB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19" name="Text Box 7"/>
          <p:cNvSpPr txBox="1">
            <a:spLocks noChangeArrowheads="1"/>
          </p:cNvSpPr>
          <p:nvPr userDrawn="1"/>
        </p:nvSpPr>
        <p:spPr bwMode="auto">
          <a:xfrm>
            <a:off x="496889" y="195720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087"/>
                </a:solidFill>
              </a:rPr>
              <a:t>Hessisches</a:t>
            </a:r>
            <a:r>
              <a:rPr lang="de-DE" sz="1050" b="1" baseline="0" dirty="0">
                <a:solidFill>
                  <a:srgbClr val="003087"/>
                </a:solidFill>
              </a:rPr>
              <a:t> Ministerium </a:t>
            </a:r>
            <a:br>
              <a:rPr lang="de-DE" sz="1050" b="1" baseline="0" dirty="0">
                <a:solidFill>
                  <a:srgbClr val="003087"/>
                </a:solidFill>
              </a:rPr>
            </a:br>
            <a:r>
              <a:rPr lang="de-DE" sz="1050" b="0" baseline="0" dirty="0">
                <a:solidFill>
                  <a:srgbClr val="003087"/>
                </a:solidFill>
              </a:rPr>
              <a:t>für Kultus, Bildung und Chancen</a:t>
            </a:r>
            <a:endParaRPr lang="de-DE" sz="900" b="0" dirty="0">
              <a:solidFill>
                <a:srgbClr val="003087"/>
              </a:solidFill>
            </a:endParaRPr>
          </a:p>
        </p:txBody>
      </p:sp>
      <p:grpSp>
        <p:nvGrpSpPr>
          <p:cNvPr id="2" name="Gruppieren 1"/>
          <p:cNvGrpSpPr/>
          <p:nvPr userDrawn="1"/>
        </p:nvGrpSpPr>
        <p:grpSpPr>
          <a:xfrm>
            <a:off x="3175" y="250031"/>
            <a:ext cx="252207" cy="1995488"/>
            <a:chOff x="3175" y="250031"/>
            <a:chExt cx="252207" cy="1995488"/>
          </a:xfrm>
        </p:grpSpPr>
        <p:sp>
          <p:nvSpPr>
            <p:cNvPr id="18" name="Rectangle 30"/>
            <p:cNvSpPr>
              <a:spLocks noChangeArrowheads="1"/>
            </p:cNvSpPr>
            <p:nvPr userDrawn="1"/>
          </p:nvSpPr>
          <p:spPr bwMode="auto">
            <a:xfrm>
              <a:off x="3175" y="250031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0" name="Rectangle 31"/>
            <p:cNvSpPr>
              <a:spLocks noChangeArrowheads="1"/>
            </p:cNvSpPr>
            <p:nvPr userDrawn="1"/>
          </p:nvSpPr>
          <p:spPr bwMode="auto">
            <a:xfrm>
              <a:off x="3175" y="694135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1" name="Rectangle 32"/>
            <p:cNvSpPr>
              <a:spLocks noChangeArrowheads="1"/>
            </p:cNvSpPr>
            <p:nvPr userDrawn="1"/>
          </p:nvSpPr>
          <p:spPr bwMode="auto">
            <a:xfrm>
              <a:off x="3175" y="1138237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Rectangle 33"/>
            <p:cNvSpPr>
              <a:spLocks noChangeArrowheads="1"/>
            </p:cNvSpPr>
            <p:nvPr userDrawn="1"/>
          </p:nvSpPr>
          <p:spPr bwMode="auto">
            <a:xfrm>
              <a:off x="3175" y="1582341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3" name="Rectangle 34"/>
            <p:cNvSpPr>
              <a:spLocks noChangeArrowheads="1"/>
            </p:cNvSpPr>
            <p:nvPr userDrawn="1"/>
          </p:nvSpPr>
          <p:spPr bwMode="auto">
            <a:xfrm>
              <a:off x="3382" y="2030015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</p:grpSp>
      <p:pic>
        <p:nvPicPr>
          <p:cNvPr id="5" name="Grafik 4" descr="Bildschirmausschnitt">
            <a:hlinkClick r:id="rId14"/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8404" y="227072"/>
            <a:ext cx="1141387" cy="30632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63" r:id="rId2"/>
    <p:sldLayoutId id="2147483688" r:id="rId3"/>
    <p:sldLayoutId id="2147483670" r:id="rId4"/>
    <p:sldLayoutId id="2147483666" r:id="rId5"/>
    <p:sldLayoutId id="2147483676" r:id="rId6"/>
    <p:sldLayoutId id="2147483677" r:id="rId7"/>
    <p:sldLayoutId id="2147483680" r:id="rId8"/>
    <p:sldLayoutId id="2147483687" r:id="rId9"/>
    <p:sldLayoutId id="2147483682" r:id="rId10"/>
    <p:sldLayoutId id="2147483678" r:id="rId11"/>
    <p:sldLayoutId id="2147483681" r:id="rId12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087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9pPr>
    </p:titleStyle>
    <p:bodyStyle>
      <a:lvl1pPr marL="257175" indent="-257175" algn="l" rtl="0" eaLnBrk="1" fontAlgn="base" hangingPunct="1">
        <a:spcBef>
          <a:spcPct val="0"/>
        </a:spcBef>
        <a:spcAft>
          <a:spcPct val="15000"/>
        </a:spcAft>
        <a:buClr>
          <a:srgbClr val="003087"/>
        </a:buClr>
        <a:buSzPct val="70000"/>
        <a:buFont typeface="Wingdings" pitchFamily="2" charset="2"/>
        <a:buChar char="n"/>
        <a:defRPr sz="15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10000"/>
        </a:spcBef>
        <a:spcAft>
          <a:spcPct val="10000"/>
        </a:spcAft>
        <a:buClr>
          <a:srgbClr val="F00000"/>
        </a:buClr>
        <a:buSzPct val="100000"/>
        <a:buFont typeface="Arial" pitchFamily="34" charset="0"/>
        <a:buChar char="»"/>
        <a:defRPr>
          <a:solidFill>
            <a:schemeClr val="tx1"/>
          </a:solidFill>
          <a:latin typeface="+mn-lt"/>
        </a:defRPr>
      </a:lvl2pPr>
      <a:lvl3pPr marL="857250" indent="-171450" algn="l" rtl="0" eaLnBrk="1" fontAlgn="base" hangingPunct="1">
        <a:spcBef>
          <a:spcPct val="0"/>
        </a:spcBef>
        <a:spcAft>
          <a:spcPct val="0"/>
        </a:spcAft>
        <a:buClrTx/>
        <a:buFont typeface="Symbol" pitchFamily="18" charset="2"/>
        <a:buChar char="-"/>
        <a:defRPr sz="1200">
          <a:solidFill>
            <a:schemeClr val="tx1"/>
          </a:solidFill>
          <a:latin typeface="+mn-lt"/>
        </a:defRPr>
      </a:lvl3pPr>
      <a:lvl4pPr marL="1200150" indent="-171450" algn="l" rtl="0" eaLnBrk="1" fontAlgn="base" hangingPunct="1">
        <a:spcBef>
          <a:spcPct val="10000"/>
        </a:spcBef>
        <a:spcAft>
          <a:spcPct val="10000"/>
        </a:spcAft>
        <a:buClr>
          <a:schemeClr val="tx1"/>
        </a:buClr>
        <a:buChar char="•"/>
        <a:defRPr sz="1050">
          <a:solidFill>
            <a:schemeClr val="tx1"/>
          </a:solidFill>
          <a:latin typeface="+mn-lt"/>
        </a:defRPr>
      </a:lvl4pPr>
      <a:lvl5pPr marL="1543050" indent="-171450" algn="l" rtl="0" eaLnBrk="1" fontAlgn="base" hangingPunct="1">
        <a:spcBef>
          <a:spcPct val="10000"/>
        </a:spcBef>
        <a:spcAft>
          <a:spcPct val="10000"/>
        </a:spcAft>
        <a:buSzPct val="75000"/>
        <a:buFont typeface="Courier New" pitchFamily="49" charset="0"/>
        <a:buChar char="o"/>
        <a:defRPr sz="900">
          <a:solidFill>
            <a:schemeClr val="tx1"/>
          </a:solidFill>
          <a:latin typeface="+mn-lt"/>
        </a:defRPr>
      </a:lvl5pPr>
      <a:lvl6pPr marL="1885950" indent="-171450" algn="l" rtl="0" eaLnBrk="1" fontAlgn="base" hangingPunct="1">
        <a:spcBef>
          <a:spcPct val="10000"/>
        </a:spcBef>
        <a:spcAft>
          <a:spcPct val="10000"/>
        </a:spcAft>
        <a:buChar char="•"/>
        <a:defRPr sz="900">
          <a:solidFill>
            <a:schemeClr val="tx1"/>
          </a:solidFill>
          <a:latin typeface="+mn-lt"/>
        </a:defRPr>
      </a:lvl6pPr>
      <a:lvl7pPr marL="2228850" indent="-171450" algn="l" rtl="0" eaLnBrk="1" fontAlgn="base" hangingPunct="1">
        <a:spcBef>
          <a:spcPct val="10000"/>
        </a:spcBef>
        <a:spcAft>
          <a:spcPct val="10000"/>
        </a:spcAft>
        <a:buChar char="•"/>
        <a:defRPr sz="900">
          <a:solidFill>
            <a:schemeClr val="tx1"/>
          </a:solidFill>
          <a:latin typeface="+mn-lt"/>
        </a:defRPr>
      </a:lvl7pPr>
      <a:lvl8pPr marL="2571750" indent="-171450" algn="l" rtl="0" eaLnBrk="1" fontAlgn="base" hangingPunct="1">
        <a:spcBef>
          <a:spcPct val="10000"/>
        </a:spcBef>
        <a:spcAft>
          <a:spcPct val="10000"/>
        </a:spcAft>
        <a:buChar char="•"/>
        <a:defRPr sz="900">
          <a:solidFill>
            <a:schemeClr val="tx1"/>
          </a:solidFill>
          <a:latin typeface="+mn-lt"/>
        </a:defRPr>
      </a:lvl8pPr>
      <a:lvl9pPr marL="2914650" indent="-171450" algn="l" rtl="0" eaLnBrk="1" fontAlgn="base" hangingPunct="1">
        <a:spcBef>
          <a:spcPct val="10000"/>
        </a:spcBef>
        <a:spcAft>
          <a:spcPct val="10000"/>
        </a:spcAft>
        <a:buChar char="•"/>
        <a:defRPr sz="9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395536" y="2211710"/>
            <a:ext cx="8435975" cy="525773"/>
          </a:xfrm>
        </p:spPr>
        <p:txBody>
          <a:bodyPr/>
          <a:lstStyle/>
          <a:p>
            <a:r>
              <a:rPr sz="2000" b="1" dirty="0">
                <a:solidFill>
                  <a:schemeClr val="bg1"/>
                </a:solidFill>
              </a:rPr>
              <a:t>Zusammenfassung der Pilotergebnisse ila Ausbaustufe 1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>
          <a:xfrm>
            <a:off x="323528" y="1203598"/>
            <a:ext cx="7688212" cy="742950"/>
          </a:xfrm>
        </p:spPr>
        <p:txBody>
          <a:bodyPr/>
          <a:lstStyle/>
          <a:p>
            <a:r>
              <a:rPr sz="3600" dirty="0"/>
              <a:t>Pilotergebnisse ila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400" dirty="0"/>
              <a:t>Anonymisiertes Nutzerverhalten (Allgemein)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de-DE" sz="1800" dirty="0"/>
              <a:t>Erfassungszeitraum: 01.02 – 05.04.2026</a:t>
            </a:r>
          </a:p>
          <a:p>
            <a:pPr>
              <a:spcAft>
                <a:spcPts val="600"/>
              </a:spcAft>
            </a:pPr>
            <a:r>
              <a:rPr lang="de-DE" sz="1800" dirty="0"/>
              <a:t>Auswertungszeitraum: 02.02. – 31.03.2026</a:t>
            </a:r>
          </a:p>
          <a:p>
            <a:pPr>
              <a:spcAft>
                <a:spcPts val="600"/>
              </a:spcAft>
            </a:pPr>
            <a:r>
              <a:rPr lang="de-DE" sz="1800" dirty="0"/>
              <a:t>15.344 erfasste Datensätze (Zeilen)</a:t>
            </a:r>
          </a:p>
          <a:p>
            <a:pPr>
              <a:spcAft>
                <a:spcPts val="600"/>
              </a:spcAft>
            </a:pPr>
            <a:r>
              <a:rPr lang="de-DE" sz="1800" dirty="0"/>
              <a:t>25 erfasste Datenfelder (Spalten)</a:t>
            </a:r>
          </a:p>
          <a:p>
            <a:pPr>
              <a:spcAft>
                <a:spcPts val="600"/>
              </a:spcAft>
            </a:pPr>
            <a:r>
              <a:rPr lang="de-DE" sz="1800" dirty="0"/>
              <a:t>133 eindeutige Nutzer (inkl. Sebastian) </a:t>
            </a:r>
          </a:p>
          <a:p>
            <a:pPr>
              <a:spcAft>
                <a:spcPts val="600"/>
              </a:spcAft>
            </a:pPr>
            <a:r>
              <a:rPr lang="de-DE" sz="1800" dirty="0"/>
              <a:t>312 bearbeitete Schüler (inkl. Sebastian)</a:t>
            </a:r>
          </a:p>
          <a:p>
            <a:pPr>
              <a:spcAft>
                <a:spcPts val="600"/>
              </a:spcAft>
            </a:pPr>
            <a:r>
              <a:rPr lang="de-DE" sz="1800" dirty="0"/>
              <a:t>57 % = Einmalnutzer</a:t>
            </a:r>
          </a:p>
          <a:p>
            <a:pPr>
              <a:spcAft>
                <a:spcPts val="600"/>
              </a:spcAft>
            </a:pPr>
            <a:r>
              <a:rPr lang="de-DE" sz="1800" dirty="0"/>
              <a:t>57 % Nutzer &lt; 10 Minuten Nutzungsdauer</a:t>
            </a:r>
          </a:p>
          <a:p>
            <a:pPr marL="0" indent="0">
              <a:spcAft>
                <a:spcPts val="600"/>
              </a:spcAft>
              <a:buNone/>
            </a:pPr>
            <a:endParaRPr lang="de-DE" sz="1800" dirty="0"/>
          </a:p>
          <a:p>
            <a:pPr>
              <a:spcAft>
                <a:spcPts val="600"/>
              </a:spcAft>
            </a:pPr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3814938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400" dirty="0"/>
              <a:t>Anonymisiertes Nutzerverhalten (Förderungen)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de-DE" sz="1800" dirty="0"/>
              <a:t>335 Förderungen insgesamt angelegt</a:t>
            </a:r>
          </a:p>
          <a:p>
            <a:pPr>
              <a:spcAft>
                <a:spcPts val="600"/>
              </a:spcAft>
            </a:pPr>
            <a:r>
              <a:rPr lang="de-DE" sz="1800" dirty="0"/>
              <a:t>Anlässe: 48% drohendes LV / 41% Teilnahme bes. Fördermaßnahme</a:t>
            </a:r>
          </a:p>
          <a:p>
            <a:pPr>
              <a:spcAft>
                <a:spcPts val="600"/>
              </a:spcAft>
            </a:pPr>
            <a:r>
              <a:rPr lang="de-DE" sz="1800" dirty="0"/>
              <a:t>Meistgewählte Förderbereiche: Rechtschreiben (29%), Kognition (26%), Rechnen (21 %)</a:t>
            </a:r>
          </a:p>
          <a:p>
            <a:pPr>
              <a:spcAft>
                <a:spcPts val="600"/>
              </a:spcAft>
            </a:pPr>
            <a:r>
              <a:rPr lang="de-DE" sz="1800" dirty="0"/>
              <a:t>Klasse 0 = meistgenutzter Jahrgang (4.526 Einträge) bei geringster Nutzeranzahl (17) </a:t>
            </a:r>
          </a:p>
          <a:p>
            <a:pPr>
              <a:spcAft>
                <a:spcPts val="600"/>
              </a:spcAft>
            </a:pPr>
            <a:r>
              <a:rPr lang="de-DE" sz="1800" dirty="0"/>
              <a:t>97 % Maßnahmen aus Katalog</a:t>
            </a:r>
          </a:p>
          <a:p>
            <a:pPr>
              <a:spcAft>
                <a:spcPts val="600"/>
              </a:spcAft>
            </a:pPr>
            <a:r>
              <a:rPr lang="de-DE" sz="1800" dirty="0"/>
              <a:t>3 % eigene Maßnahmen (235 eindeutige, davon 140 mehrfach durch verschieden LK) </a:t>
            </a:r>
          </a:p>
        </p:txBody>
      </p:sp>
    </p:spTree>
    <p:extLst>
      <p:ext uri="{BB962C8B-B14F-4D97-AF65-F5344CB8AC3E}">
        <p14:creationId xmlns:p14="http://schemas.microsoft.com/office/powerpoint/2010/main" val="1229050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400" dirty="0"/>
              <a:t>Anonymisiertes Nutzerverhalten (Maßnahmen)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de-DE" sz="1800" dirty="0"/>
              <a:t>97 % Maßnahmen aus Katalog</a:t>
            </a:r>
          </a:p>
          <a:p>
            <a:pPr>
              <a:spcAft>
                <a:spcPts val="600"/>
              </a:spcAft>
            </a:pPr>
            <a:r>
              <a:rPr lang="de-DE" sz="1800" dirty="0"/>
              <a:t>3 % eigene Maßnahmen (235 eindeutige, davon 140 mehrfach durch verschieden LK) </a:t>
            </a:r>
          </a:p>
          <a:p>
            <a:pPr lvl="1">
              <a:spcAft>
                <a:spcPts val="600"/>
              </a:spcAft>
            </a:pPr>
            <a:r>
              <a:rPr lang="de-DE" sz="1200" dirty="0"/>
              <a:t>Die eigenen Maßnahmen sind ein Goldschatz für die Katalog-Weiterentwicklung. Dass 140 von 235 Texten mehrfach auftauchen, zeigt: Es gibt einen geteilten Bedarf, der im Katalog noch nicht abgedeckt ist.</a:t>
            </a:r>
          </a:p>
          <a:p>
            <a:pPr>
              <a:spcAft>
                <a:spcPts val="600"/>
              </a:spcAft>
            </a:pPr>
            <a:r>
              <a:rPr lang="de-DE" sz="1800" dirty="0"/>
              <a:t>Notizen: inklusive Testdaten 18 eindeutige Einträge von 14 Nutzern</a:t>
            </a:r>
          </a:p>
          <a:p>
            <a:pPr lvl="1">
              <a:spcAft>
                <a:spcPts val="600"/>
              </a:spcAft>
            </a:pPr>
            <a:r>
              <a:rPr lang="de-DE" sz="1200" dirty="0"/>
              <a:t>Interpretation: Echte Beobachtungsnotizen (Tagesform, Lernstand) stehen neben Organisations-Notizen (Lesepatin, BFZ), Statusmarkierungen ("erledigt") und einem Hilferuf im Notizfeld. Die Notizen zeigen Bedarfe, die die App noch nicht </a:t>
            </a:r>
            <a:r>
              <a:rPr lang="de-DE" sz="1200" dirty="0" err="1"/>
              <a:t>trukturiert</a:t>
            </a:r>
            <a:r>
              <a:rPr lang="de-DE" sz="1200" dirty="0"/>
              <a:t> abbildet.</a:t>
            </a:r>
          </a:p>
        </p:txBody>
      </p:sp>
    </p:spTree>
    <p:extLst>
      <p:ext uri="{BB962C8B-B14F-4D97-AF65-F5344CB8AC3E}">
        <p14:creationId xmlns:p14="http://schemas.microsoft.com/office/powerpoint/2010/main" val="1050394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400" dirty="0"/>
              <a:t>Anonymisiertes Nutzerverhalten (Förderplan)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41" y="1563638"/>
            <a:ext cx="8484370" cy="3240881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de-DE" sz="1800" dirty="0"/>
              <a:t>176 FP wurden  von 87 Nutzern (65%) erstellt </a:t>
            </a:r>
          </a:p>
          <a:p>
            <a:pPr>
              <a:spcAft>
                <a:spcPts val="600"/>
              </a:spcAft>
            </a:pPr>
            <a:r>
              <a:rPr lang="de-DE" sz="1800" dirty="0"/>
              <a:t>82 % der FP werden direkt im Anschluss an die Erstellung der Förderung erstellt</a:t>
            </a:r>
          </a:p>
          <a:p>
            <a:pPr>
              <a:spcAft>
                <a:spcPts val="600"/>
              </a:spcAft>
            </a:pPr>
            <a:r>
              <a:rPr lang="de-DE" sz="1800" dirty="0"/>
              <a:t>135 FP (77 % nie wieder geöffnet)</a:t>
            </a:r>
          </a:p>
          <a:p>
            <a:pPr>
              <a:spcAft>
                <a:spcPts val="600"/>
              </a:spcAft>
            </a:pPr>
            <a:r>
              <a:rPr lang="de-DE" sz="1800" dirty="0"/>
              <a:t>Vorklasse: nur vier FP</a:t>
            </a:r>
          </a:p>
          <a:p>
            <a:pPr>
              <a:spcAft>
                <a:spcPts val="600"/>
              </a:spcAft>
            </a:pPr>
            <a:r>
              <a:rPr lang="de-DE" sz="1800" dirty="0"/>
              <a:t>77 % der FP wurden nicht mehr angefasst</a:t>
            </a:r>
          </a:p>
          <a:p>
            <a:pPr>
              <a:spcAft>
                <a:spcPts val="600"/>
              </a:spcAft>
            </a:pPr>
            <a:r>
              <a:rPr lang="de-DE" sz="1800" dirty="0"/>
              <a:t>Stärken: in 86% der FP wurde das Feld gefüllt </a:t>
            </a:r>
          </a:p>
          <a:p>
            <a:pPr lvl="1">
              <a:spcAft>
                <a:spcPts val="600"/>
              </a:spcAft>
            </a:pPr>
            <a:r>
              <a:rPr lang="de-DE" sz="1200" dirty="0"/>
              <a:t>Inhaltliche Muster: Sozial-emotionale Beschreibungen dominieren ("freundlich und hilfsbereit", "motiviert") — oft generisch und wenig förderrelevant. Fachliche Stärken präziser, aber seltener. Einige Lehrkräfte nutzen das Feld als Lernausgangslage-Beschreibung. Sehr kurze Einträge ("Toll", "ist nett") zeigen </a:t>
            </a:r>
            <a:r>
              <a:rPr lang="de-DE" sz="1200" dirty="0" err="1"/>
              <a:t>Pflichtbefüllung</a:t>
            </a:r>
            <a:r>
              <a:rPr lang="de-DE" sz="1200" dirty="0"/>
              <a:t>. </a:t>
            </a:r>
            <a:r>
              <a:rPr lang="de-DE" sz="1200" b="1" dirty="0"/>
              <a:t>Das Feld braucht klarere Anleitung.</a:t>
            </a:r>
          </a:p>
        </p:txBody>
      </p:sp>
    </p:spTree>
    <p:extLst>
      <p:ext uri="{BB962C8B-B14F-4D97-AF65-F5344CB8AC3E}">
        <p14:creationId xmlns:p14="http://schemas.microsoft.com/office/powerpoint/2010/main" val="1236984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400" dirty="0"/>
              <a:t>Anonymisiertes Nutzerverhalten (Was wir nicht wissen)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570CB61-D2CD-44CE-3E1C-5851747421D9}"/>
              </a:ext>
            </a:extLst>
          </p:cNvPr>
          <p:cNvSpPr txBox="1"/>
          <p:nvPr/>
        </p:nvSpPr>
        <p:spPr>
          <a:xfrm rot="20215109">
            <a:off x="940950" y="2843741"/>
            <a:ext cx="6624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>
                <a:solidFill>
                  <a:schemeClr val="bg1">
                    <a:lumMod val="50000"/>
                  </a:schemeClr>
                </a:solidFill>
              </a:rPr>
              <a:t>Siehe Komplettbericht </a:t>
            </a:r>
          </a:p>
        </p:txBody>
      </p:sp>
    </p:spTree>
    <p:extLst>
      <p:ext uri="{BB962C8B-B14F-4D97-AF65-F5344CB8AC3E}">
        <p14:creationId xmlns:p14="http://schemas.microsoft.com/office/powerpoint/2010/main" val="1384117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400" dirty="0"/>
              <a:t>Integriertes Feedback (Allgemein)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41" y="1563638"/>
            <a:ext cx="8484370" cy="3240881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de-DE" sz="1800" dirty="0"/>
              <a:t>32 Feedbacks wurden abgegeben (ohne Testdaten)</a:t>
            </a:r>
          </a:p>
          <a:p>
            <a:pPr>
              <a:spcAft>
                <a:spcPts val="600"/>
              </a:spcAft>
            </a:pPr>
            <a:r>
              <a:rPr lang="de-DE" sz="1800" dirty="0"/>
              <a:t>20 haben Sterne Bewertung abgegeben</a:t>
            </a:r>
          </a:p>
          <a:p>
            <a:pPr>
              <a:spcAft>
                <a:spcPts val="600"/>
              </a:spcAft>
            </a:pPr>
            <a:r>
              <a:rPr lang="de-DE" sz="1800" dirty="0"/>
              <a:t>27 Freitextangaben</a:t>
            </a:r>
          </a:p>
        </p:txBody>
      </p:sp>
    </p:spTree>
    <p:extLst>
      <p:ext uri="{BB962C8B-B14F-4D97-AF65-F5344CB8AC3E}">
        <p14:creationId xmlns:p14="http://schemas.microsoft.com/office/powerpoint/2010/main" val="3941140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400" dirty="0"/>
              <a:t>Integriertes Feedback (Rating – Durchschnitt 2,7)</a:t>
            </a:r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C5F9AFB2-C9AB-8554-532F-9CE7A8BEB1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3949783"/>
              </p:ext>
            </p:extLst>
          </p:nvPr>
        </p:nvGraphicFramePr>
        <p:xfrm>
          <a:off x="395536" y="1635646"/>
          <a:ext cx="7661672" cy="3048000"/>
        </p:xfrm>
        <a:graphic>
          <a:graphicData uri="http://schemas.openxmlformats.org/drawingml/2006/table">
            <a:tbl>
              <a:tblPr/>
              <a:tblGrid>
                <a:gridCol w="1915418">
                  <a:extLst>
                    <a:ext uri="{9D8B030D-6E8A-4147-A177-3AD203B41FA5}">
                      <a16:colId xmlns:a16="http://schemas.microsoft.com/office/drawing/2014/main" val="2670879498"/>
                    </a:ext>
                  </a:extLst>
                </a:gridCol>
                <a:gridCol w="1915418">
                  <a:extLst>
                    <a:ext uri="{9D8B030D-6E8A-4147-A177-3AD203B41FA5}">
                      <a16:colId xmlns:a16="http://schemas.microsoft.com/office/drawing/2014/main" val="3630064100"/>
                    </a:ext>
                  </a:extLst>
                </a:gridCol>
                <a:gridCol w="1915418">
                  <a:extLst>
                    <a:ext uri="{9D8B030D-6E8A-4147-A177-3AD203B41FA5}">
                      <a16:colId xmlns:a16="http://schemas.microsoft.com/office/drawing/2014/main" val="2836999406"/>
                    </a:ext>
                  </a:extLst>
                </a:gridCol>
                <a:gridCol w="1915418">
                  <a:extLst>
                    <a:ext uri="{9D8B030D-6E8A-4147-A177-3AD203B41FA5}">
                      <a16:colId xmlns:a16="http://schemas.microsoft.com/office/drawing/2014/main" val="1655367940"/>
                    </a:ext>
                  </a:extLst>
                </a:gridCol>
              </a:tblGrid>
              <a:tr h="281940">
                <a:tc>
                  <a:txBody>
                    <a:bodyPr/>
                    <a:lstStyle/>
                    <a:p>
                      <a:r>
                        <a:rPr lang="de-DE" sz="1600" b="1">
                          <a:effectLst/>
                        </a:rPr>
                        <a:t>Seite</a:t>
                      </a:r>
                    </a:p>
                  </a:txBody>
                  <a:tcPr marL="82550" marR="82550" marT="38100" marB="38100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b="1">
                          <a:effectLst/>
                        </a:rPr>
                        <a:t>Schritt</a:t>
                      </a:r>
                    </a:p>
                  </a:txBody>
                  <a:tcPr marL="82550" marR="82550" marT="38100" marB="38100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b="1" dirty="0">
                          <a:effectLst/>
                        </a:rPr>
                        <a:t>Bewertungen</a:t>
                      </a:r>
                    </a:p>
                  </a:txBody>
                  <a:tcPr marL="82550" marR="82550" marT="38100" marB="38100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b="1">
                          <a:effectLst/>
                        </a:rPr>
                        <a:t>Ø Rating</a:t>
                      </a:r>
                    </a:p>
                  </a:txBody>
                  <a:tcPr marL="82550" marR="82550" marT="38100" marB="38100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4318303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r>
                        <a:rPr lang="de-DE" sz="1600">
                          <a:effectLst/>
                        </a:rPr>
                        <a:t>Förderplan</a:t>
                      </a:r>
                    </a:p>
                  </a:txBody>
                  <a:tcPr marL="82550" marR="82550" marT="38100" marB="38100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>
                          <a:effectLst/>
                        </a:rPr>
                        <a:t>—</a:t>
                      </a:r>
                    </a:p>
                  </a:txBody>
                  <a:tcPr marL="82550" marR="82550" marT="38100" marB="38100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>
                          <a:effectLst/>
                        </a:rPr>
                        <a:t>4</a:t>
                      </a:r>
                    </a:p>
                  </a:txBody>
                  <a:tcPr marL="82550" marR="82550" marT="38100" marB="38100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>
                          <a:effectLst/>
                        </a:rPr>
                        <a:t>2,00</a:t>
                      </a:r>
                    </a:p>
                  </a:txBody>
                  <a:tcPr marL="82550" marR="82550" marT="38100" marB="38100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0255892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r>
                        <a:rPr lang="de-DE" sz="1600">
                          <a:effectLst/>
                        </a:rPr>
                        <a:t>Förderziel hinzufügen</a:t>
                      </a:r>
                    </a:p>
                  </a:txBody>
                  <a:tcPr marL="82550" marR="82550" marT="38100" marB="38100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effectLst/>
                        </a:rPr>
                        <a:t>Schritt 2</a:t>
                      </a:r>
                    </a:p>
                  </a:txBody>
                  <a:tcPr marL="82550" marR="82550" marT="38100" marB="38100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>
                          <a:effectLst/>
                        </a:rPr>
                        <a:t>3</a:t>
                      </a:r>
                    </a:p>
                  </a:txBody>
                  <a:tcPr marL="82550" marR="82550" marT="38100" marB="38100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>
                          <a:effectLst/>
                        </a:rPr>
                        <a:t>3,00</a:t>
                      </a:r>
                    </a:p>
                  </a:txBody>
                  <a:tcPr marL="82550" marR="82550" marT="38100" marB="38100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2793100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r>
                        <a:rPr lang="de-DE" sz="1600">
                          <a:effectLst/>
                        </a:rPr>
                        <a:t>Förderziel hinzufügen</a:t>
                      </a:r>
                    </a:p>
                  </a:txBody>
                  <a:tcPr marL="82550" marR="82550" marT="38100" marB="38100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effectLst/>
                        </a:rPr>
                        <a:t>Schritt 3</a:t>
                      </a:r>
                    </a:p>
                  </a:txBody>
                  <a:tcPr marL="82550" marR="82550" marT="38100" marB="38100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>
                          <a:effectLst/>
                        </a:rPr>
                        <a:t>1</a:t>
                      </a:r>
                    </a:p>
                  </a:txBody>
                  <a:tcPr marL="82550" marR="82550" marT="38100" marB="38100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>
                          <a:effectLst/>
                        </a:rPr>
                        <a:t>2,00</a:t>
                      </a:r>
                    </a:p>
                  </a:txBody>
                  <a:tcPr marL="82550" marR="82550" marT="38100" marB="38100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155446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r>
                        <a:rPr lang="de-DE" sz="1600">
                          <a:effectLst/>
                        </a:rPr>
                        <a:t>Förderakte</a:t>
                      </a:r>
                    </a:p>
                  </a:txBody>
                  <a:tcPr marL="82550" marR="82550" marT="38100" marB="38100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effectLst/>
                        </a:rPr>
                        <a:t>—</a:t>
                      </a:r>
                    </a:p>
                  </a:txBody>
                  <a:tcPr marL="82550" marR="82550" marT="38100" marB="38100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effectLst/>
                        </a:rPr>
                        <a:t>7</a:t>
                      </a:r>
                    </a:p>
                  </a:txBody>
                  <a:tcPr marL="82550" marR="82550" marT="38100" marB="38100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>
                          <a:effectLst/>
                        </a:rPr>
                        <a:t>2,86</a:t>
                      </a:r>
                    </a:p>
                  </a:txBody>
                  <a:tcPr marL="82550" marR="82550" marT="38100" marB="38100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3965007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r>
                        <a:rPr lang="de-DE" sz="1600">
                          <a:effectLst/>
                        </a:rPr>
                        <a:t>Startseite</a:t>
                      </a:r>
                    </a:p>
                  </a:txBody>
                  <a:tcPr marL="82550" marR="82550" marT="38100" marB="38100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>
                          <a:effectLst/>
                        </a:rPr>
                        <a:t>—</a:t>
                      </a:r>
                    </a:p>
                  </a:txBody>
                  <a:tcPr marL="82550" marR="82550" marT="38100" marB="38100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>
                          <a:effectLst/>
                        </a:rPr>
                        <a:t>3</a:t>
                      </a:r>
                    </a:p>
                  </a:txBody>
                  <a:tcPr marL="82550" marR="82550" marT="38100" marB="38100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>
                          <a:effectLst/>
                        </a:rPr>
                        <a:t>3,00</a:t>
                      </a:r>
                    </a:p>
                  </a:txBody>
                  <a:tcPr marL="82550" marR="82550" marT="38100" marB="38100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428770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r>
                        <a:rPr lang="de-DE" sz="1600">
                          <a:effectLst/>
                        </a:rPr>
                        <a:t>Förderziel</a:t>
                      </a:r>
                    </a:p>
                  </a:txBody>
                  <a:tcPr marL="82550" marR="82550" marT="38100" marB="38100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>
                          <a:effectLst/>
                        </a:rPr>
                        <a:t>—</a:t>
                      </a:r>
                    </a:p>
                  </a:txBody>
                  <a:tcPr marL="82550" marR="82550" marT="38100" marB="38100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effectLst/>
                        </a:rPr>
                        <a:t>2</a:t>
                      </a:r>
                    </a:p>
                  </a:txBody>
                  <a:tcPr marL="82550" marR="82550" marT="38100" marB="38100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effectLst/>
                        </a:rPr>
                        <a:t>3,00</a:t>
                      </a:r>
                    </a:p>
                  </a:txBody>
                  <a:tcPr marL="82550" marR="82550" marT="38100" marB="38100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893041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r>
                        <a:rPr lang="de-DE" sz="1600" b="1">
                          <a:effectLst/>
                        </a:rPr>
                        <a:t>Gesamt</a:t>
                      </a:r>
                      <a:endParaRPr lang="de-DE" sz="1600">
                        <a:effectLst/>
                      </a:endParaRPr>
                    </a:p>
                  </a:txBody>
                  <a:tcPr marL="82550" marR="82550" marT="38100" marB="38100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effectLst/>
                      </a:endParaRPr>
                    </a:p>
                  </a:txBody>
                  <a:tcPr marL="82550" marR="82550" marT="38100" marB="38100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b="1" dirty="0">
                          <a:effectLst/>
                        </a:rPr>
                        <a:t>20</a:t>
                      </a:r>
                      <a:endParaRPr lang="de-DE" sz="1600" dirty="0">
                        <a:effectLst/>
                      </a:endParaRPr>
                    </a:p>
                  </a:txBody>
                  <a:tcPr marL="82550" marR="82550" marT="38100" marB="38100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b="1" dirty="0">
                          <a:effectLst/>
                        </a:rPr>
                        <a:t>2,70</a:t>
                      </a:r>
                      <a:endParaRPr lang="de-DE" sz="1600" dirty="0">
                        <a:effectLst/>
                      </a:endParaRPr>
                    </a:p>
                  </a:txBody>
                  <a:tcPr marL="82550" marR="82550" marT="38100" marB="38100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03960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1639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400" dirty="0"/>
              <a:t>Integriertes Feedback (Cluster Freitextfelder)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AF5C22D-A286-A282-7CCB-C6607E39A5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341" y="1563638"/>
            <a:ext cx="8484370" cy="3240881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de-DE" sz="1800" dirty="0"/>
              <a:t>Unterstützer Feld zu eingeschränkt</a:t>
            </a:r>
          </a:p>
          <a:p>
            <a:pPr lvl="1">
              <a:spcAft>
                <a:spcPts val="600"/>
              </a:spcAft>
            </a:pPr>
            <a:r>
              <a:rPr lang="de-DE" sz="1400" dirty="0"/>
              <a:t>Nur Vater/Mutter auswählbar (6 Nennungen). BFZ, Ergotherapie, Logopädie, andere Lehrkräfte, Geschwister, Mitschüler fehlen. Pflichtfeld blockiert zusätzlich das Speichern (1 Nennung).</a:t>
            </a:r>
          </a:p>
          <a:p>
            <a:pPr>
              <a:spcAft>
                <a:spcPts val="600"/>
              </a:spcAft>
            </a:pPr>
            <a:r>
              <a:rPr lang="de-DE" sz="1800" dirty="0"/>
              <a:t>Maßnahmen zu unkonkret, lückenhaft, falsche Ebene</a:t>
            </a:r>
          </a:p>
          <a:p>
            <a:pPr lvl="1">
              <a:spcAft>
                <a:spcPts val="600"/>
              </a:spcAft>
            </a:pPr>
            <a:r>
              <a:rPr lang="de-DE" sz="1400" dirty="0"/>
              <a:t>Maßnahmen wirken wie Ziele (8 Nennungen). Fehlende Inhalte: Vorklasse, Klasse 1, Buchstaben-Laut-Ebene, Lesegeschwindigkeit, Arbeit-/Sozialverhalten, LRS, DaZ. Nur 3 Maßnahmen zur Auswahl (1 Nennung).	</a:t>
            </a:r>
          </a:p>
          <a:p>
            <a:pPr>
              <a:spcAft>
                <a:spcPts val="600"/>
              </a:spcAft>
            </a:pPr>
            <a:r>
              <a:rPr lang="de-DE" sz="1800" dirty="0"/>
              <a:t>Fehlende Förderbereiche und Anlässe</a:t>
            </a:r>
          </a:p>
          <a:p>
            <a:pPr lvl="1">
              <a:spcAft>
                <a:spcPts val="600"/>
              </a:spcAft>
            </a:pPr>
            <a:r>
              <a:rPr lang="de-DE" sz="1400" dirty="0"/>
              <a:t>Lernverhalten, Sozialverhalten, Vorklasse, LRS, AD(H)S, Autismus, chronische Erkrankung fehlend (3 Nennungen)</a:t>
            </a:r>
          </a:p>
          <a:p>
            <a:pPr>
              <a:spcAft>
                <a:spcPts val="600"/>
              </a:spcAft>
            </a:pPr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4005693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400" dirty="0"/>
              <a:t>Integriertes Feedback (Cluster Freitextfelder - Auszug)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AF5C22D-A286-A282-7CCB-C6607E39A5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341" y="1563638"/>
            <a:ext cx="8484370" cy="3240881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de-DE" sz="1800" dirty="0"/>
              <a:t>Unterstützer Feld zu eingeschränkt</a:t>
            </a:r>
          </a:p>
          <a:p>
            <a:pPr lvl="1">
              <a:spcAft>
                <a:spcPts val="600"/>
              </a:spcAft>
            </a:pPr>
            <a:r>
              <a:rPr lang="de-DE" sz="1400" dirty="0"/>
              <a:t>Nur Vater/Mutter auswählbar (6 Nennungen). BFZ, Ergotherapie, Logopädie, andere Lehrkräfte, Geschwister, Mitschüler fehlen. Pflichtfeld blockiert zusätzlich das Speichern (1 Nennung).</a:t>
            </a:r>
          </a:p>
          <a:p>
            <a:pPr>
              <a:spcAft>
                <a:spcPts val="600"/>
              </a:spcAft>
            </a:pPr>
            <a:r>
              <a:rPr lang="de-DE" sz="1800" dirty="0"/>
              <a:t>Maßnahmen zu unkonkret, lückenhaft, falsche Ebene</a:t>
            </a:r>
          </a:p>
          <a:p>
            <a:pPr lvl="1">
              <a:spcAft>
                <a:spcPts val="600"/>
              </a:spcAft>
            </a:pPr>
            <a:r>
              <a:rPr lang="de-DE" sz="1400" dirty="0"/>
              <a:t>Maßnahmen wirken wie Ziele (8 Nennungen). Fehlende Inhalte: Vorklasse, Klasse 1, Buchstaben-Laut-Ebene, Lesegeschwindigkeit, Arbeit-/Sozialverhalten, LRS, DaZ. Nur 3 Maßnahmen zur Auswahl (1 Nennung).	</a:t>
            </a:r>
          </a:p>
          <a:p>
            <a:pPr>
              <a:spcAft>
                <a:spcPts val="600"/>
              </a:spcAft>
            </a:pPr>
            <a:r>
              <a:rPr lang="de-DE" sz="1800" dirty="0"/>
              <a:t>Fehlende Förderbereiche und Anlässe</a:t>
            </a:r>
          </a:p>
          <a:p>
            <a:pPr lvl="1">
              <a:spcAft>
                <a:spcPts val="600"/>
              </a:spcAft>
            </a:pPr>
            <a:r>
              <a:rPr lang="de-DE" sz="1400" dirty="0"/>
              <a:t>Lernverhalten, Sozialverhalten, Vorklasse, LRS, AD(H)S, Autismus, chronische Erkrankung fehlend (3 Nennungen)</a:t>
            </a:r>
          </a:p>
          <a:p>
            <a:pPr>
              <a:spcAft>
                <a:spcPts val="600"/>
              </a:spcAft>
            </a:pPr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892626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400" dirty="0"/>
              <a:t>Integriertes Feedback (was wir nicht wissen)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06AF2-58D4-27C8-52FB-DE7A0D4A8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341" y="1563638"/>
            <a:ext cx="8484370" cy="3240881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de-DE" sz="1800" b="1" dirty="0"/>
              <a:t>Wer hat bewertet? </a:t>
            </a:r>
            <a:r>
              <a:rPr lang="de-DE" sz="1800" dirty="0"/>
              <a:t>Keine Verknüpfung zwischen Feedback-Einträgen und Anonymus-Nummern aus Sheet 1. Ob die Kritischsten auch die Aktivsten waren - unbekannt.</a:t>
            </a:r>
          </a:p>
          <a:p>
            <a:pPr>
              <a:spcAft>
                <a:spcPts val="600"/>
              </a:spcAft>
            </a:pPr>
            <a:r>
              <a:rPr lang="de-DE" sz="1800" b="1" dirty="0"/>
              <a:t>Worauf beziehen sich die Bewertungen genau? </a:t>
            </a:r>
            <a:r>
              <a:rPr lang="de-DE" sz="1800" dirty="0"/>
              <a:t>Das Feedback-System erlaubt eine Bewertung pro Seite/Schritt, aber keine Unterscheidung ob die Note die Bedienbarkeit, den Inhalt, eine konkrete Funktion oder das allgemeine Erlebnis bewertet. Bewertungen wie 2 Sterne auf der Startseite können viele verschiedene Gründe haben - der Freitext hilft, erklärt aber nicht immer.</a:t>
            </a:r>
          </a:p>
          <a:p>
            <a:pPr>
              <a:spcAft>
                <a:spcPts val="600"/>
              </a:spcAft>
            </a:pPr>
            <a:r>
              <a:rPr lang="de-DE" sz="1800" dirty="0"/>
              <a:t>Was denken die anderen 101 Nutzer? 133 Nutzer im System, 32 Feedback-Einträge. Über 100 Nutzer haben sich gar nicht gemeldet.</a:t>
            </a:r>
            <a:endParaRPr lang="de-DE" sz="1200" b="1" dirty="0"/>
          </a:p>
        </p:txBody>
      </p:sp>
    </p:spTree>
    <p:extLst>
      <p:ext uri="{BB962C8B-B14F-4D97-AF65-F5344CB8AC3E}">
        <p14:creationId xmlns:p14="http://schemas.microsoft.com/office/powerpoint/2010/main" val="1755171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400" dirty="0"/>
              <a:t>Fragebogen (Allgemein)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41" y="1563638"/>
            <a:ext cx="8484370" cy="3240881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de-DE" sz="1800" dirty="0"/>
              <a:t>19 Fragebögen abgeschlossen</a:t>
            </a:r>
          </a:p>
          <a:p>
            <a:pPr>
              <a:spcAft>
                <a:spcPts val="600"/>
              </a:spcAft>
            </a:pPr>
            <a:r>
              <a:rPr lang="de-DE" sz="1800" dirty="0"/>
              <a:t>Rollen: 10 Lehrkräfte, 4x Schulleitung, 2x Schulverwaltung, 3 ohne Angabe</a:t>
            </a:r>
          </a:p>
          <a:p>
            <a:pPr>
              <a:spcAft>
                <a:spcPts val="600"/>
              </a:spcAft>
            </a:pPr>
            <a:r>
              <a:rPr lang="de-DE" sz="1800" dirty="0"/>
              <a:t>Antwortquote 62% (nur einer vollständig ausgefüllt, 6 unter 50)</a:t>
            </a:r>
          </a:p>
          <a:p>
            <a:pPr>
              <a:spcAft>
                <a:spcPts val="600"/>
              </a:spcAft>
            </a:pPr>
            <a:r>
              <a:rPr lang="de-DE" sz="1800" dirty="0"/>
              <a:t>27 Freitextangaben</a:t>
            </a:r>
          </a:p>
          <a:p>
            <a:pPr>
              <a:spcAft>
                <a:spcPts val="600"/>
              </a:spcAft>
            </a:pPr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1551121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400" dirty="0"/>
              <a:t>Fragebogen (Bedienbarkeit und Nützlichkeit)</a:t>
            </a:r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B0DCD417-5188-3C29-6AA3-06FA44EEDD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9646123"/>
              </p:ext>
            </p:extLst>
          </p:nvPr>
        </p:nvGraphicFramePr>
        <p:xfrm>
          <a:off x="459897" y="1491631"/>
          <a:ext cx="8164945" cy="2790804"/>
        </p:xfrm>
        <a:graphic>
          <a:graphicData uri="http://schemas.openxmlformats.org/drawingml/2006/table">
            <a:tbl>
              <a:tblPr/>
              <a:tblGrid>
                <a:gridCol w="1632989">
                  <a:extLst>
                    <a:ext uri="{9D8B030D-6E8A-4147-A177-3AD203B41FA5}">
                      <a16:colId xmlns:a16="http://schemas.microsoft.com/office/drawing/2014/main" val="3680392245"/>
                    </a:ext>
                  </a:extLst>
                </a:gridCol>
                <a:gridCol w="1632989">
                  <a:extLst>
                    <a:ext uri="{9D8B030D-6E8A-4147-A177-3AD203B41FA5}">
                      <a16:colId xmlns:a16="http://schemas.microsoft.com/office/drawing/2014/main" val="1182630295"/>
                    </a:ext>
                  </a:extLst>
                </a:gridCol>
                <a:gridCol w="1632989">
                  <a:extLst>
                    <a:ext uri="{9D8B030D-6E8A-4147-A177-3AD203B41FA5}">
                      <a16:colId xmlns:a16="http://schemas.microsoft.com/office/drawing/2014/main" val="3836813635"/>
                    </a:ext>
                  </a:extLst>
                </a:gridCol>
                <a:gridCol w="1632989">
                  <a:extLst>
                    <a:ext uri="{9D8B030D-6E8A-4147-A177-3AD203B41FA5}">
                      <a16:colId xmlns:a16="http://schemas.microsoft.com/office/drawing/2014/main" val="2756957002"/>
                    </a:ext>
                  </a:extLst>
                </a:gridCol>
                <a:gridCol w="1632989">
                  <a:extLst>
                    <a:ext uri="{9D8B030D-6E8A-4147-A177-3AD203B41FA5}">
                      <a16:colId xmlns:a16="http://schemas.microsoft.com/office/drawing/2014/main" val="1203794918"/>
                    </a:ext>
                  </a:extLst>
                </a:gridCol>
              </a:tblGrid>
              <a:tr h="182683">
                <a:tc>
                  <a:txBody>
                    <a:bodyPr/>
                    <a:lstStyle/>
                    <a:p>
                      <a:r>
                        <a:rPr lang="de-DE" sz="1100" b="1" dirty="0">
                          <a:effectLst/>
                        </a:rPr>
                        <a:t>Aussage</a:t>
                      </a:r>
                    </a:p>
                  </a:txBody>
                  <a:tcPr marL="80139" marR="80139" marT="36987" marB="36987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1">
                          <a:effectLst/>
                        </a:rPr>
                        <a:t>Ø gesamt</a:t>
                      </a:r>
                    </a:p>
                  </a:txBody>
                  <a:tcPr marL="80139" marR="80139" marT="36987" marB="36987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1">
                          <a:effectLst/>
                        </a:rPr>
                        <a:t>Ø Lehrkräfte</a:t>
                      </a:r>
                    </a:p>
                  </a:txBody>
                  <a:tcPr marL="80139" marR="80139" marT="36987" marB="36987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1">
                          <a:effectLst/>
                        </a:rPr>
                        <a:t>Ø Schulltg.</a:t>
                      </a:r>
                    </a:p>
                  </a:txBody>
                  <a:tcPr marL="80139" marR="80139" marT="36987" marB="36987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1">
                          <a:effectLst/>
                        </a:rPr>
                        <a:t>Verteilung</a:t>
                      </a:r>
                    </a:p>
                  </a:txBody>
                  <a:tcPr marL="80139" marR="80139" marT="36987" marB="36987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385243"/>
                  </a:ext>
                </a:extLst>
              </a:tr>
              <a:tr h="315701">
                <a:tc>
                  <a:txBody>
                    <a:bodyPr/>
                    <a:lstStyle/>
                    <a:p>
                      <a:r>
                        <a:rPr lang="de-DE" sz="1100" dirty="0">
                          <a:effectLst/>
                        </a:rPr>
                        <a:t>Stabil und zuverlässig</a:t>
                      </a:r>
                    </a:p>
                  </a:txBody>
                  <a:tcPr marL="80139" marR="80139" marT="36987" marB="36987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1" dirty="0">
                          <a:effectLst/>
                        </a:rPr>
                        <a:t>3,85</a:t>
                      </a:r>
                      <a:endParaRPr lang="de-DE" sz="1100" dirty="0">
                        <a:effectLst/>
                      </a:endParaRPr>
                    </a:p>
                  </a:txBody>
                  <a:tcPr marL="80139" marR="80139" marT="36987" marB="36987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>
                          <a:effectLst/>
                        </a:rPr>
                        <a:t>3,88</a:t>
                      </a:r>
                    </a:p>
                  </a:txBody>
                  <a:tcPr marL="80139" marR="80139" marT="36987" marB="36987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>
                          <a:effectLst/>
                        </a:rPr>
                        <a:t>3,80</a:t>
                      </a:r>
                    </a:p>
                  </a:txBody>
                  <a:tcPr marL="80139" marR="80139" marT="36987" marB="36987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>
                          <a:effectLst/>
                        </a:rPr>
                        <a:t>11x absolut, 2x überwiegend</a:t>
                      </a:r>
                    </a:p>
                  </a:txBody>
                  <a:tcPr marL="80139" marR="80139" marT="36987" marB="36987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804040"/>
                  </a:ext>
                </a:extLst>
              </a:tr>
              <a:tr h="315701">
                <a:tc>
                  <a:txBody>
                    <a:bodyPr/>
                    <a:lstStyle/>
                    <a:p>
                      <a:r>
                        <a:rPr lang="de-DE" sz="1100">
                          <a:effectLst/>
                        </a:rPr>
                        <a:t>Verständlich/intuitiv</a:t>
                      </a:r>
                    </a:p>
                  </a:txBody>
                  <a:tcPr marL="80139" marR="80139" marT="36987" marB="36987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1" dirty="0">
                          <a:effectLst/>
                        </a:rPr>
                        <a:t>3,46</a:t>
                      </a:r>
                      <a:endParaRPr lang="de-DE" sz="1100" dirty="0">
                        <a:effectLst/>
                      </a:endParaRPr>
                    </a:p>
                  </a:txBody>
                  <a:tcPr marL="80139" marR="80139" marT="36987" marB="36987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dirty="0">
                          <a:effectLst/>
                        </a:rPr>
                        <a:t>3,38</a:t>
                      </a:r>
                    </a:p>
                  </a:txBody>
                  <a:tcPr marL="80139" marR="80139" marT="36987" marB="36987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>
                          <a:effectLst/>
                        </a:rPr>
                        <a:t>3,60</a:t>
                      </a:r>
                    </a:p>
                  </a:txBody>
                  <a:tcPr marL="80139" marR="80139" marT="36987" marB="36987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>
                          <a:effectLst/>
                        </a:rPr>
                        <a:t>6x absolut, 7x überwiegend</a:t>
                      </a:r>
                    </a:p>
                  </a:txBody>
                  <a:tcPr marL="80139" marR="80139" marT="36987" marB="36987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706019"/>
                  </a:ext>
                </a:extLst>
              </a:tr>
              <a:tr h="448718">
                <a:tc>
                  <a:txBody>
                    <a:bodyPr/>
                    <a:lstStyle/>
                    <a:p>
                      <a:r>
                        <a:rPr lang="de-DE" sz="1100">
                          <a:effectLst/>
                        </a:rPr>
                        <a:t>Passt zu Schulabläufen</a:t>
                      </a:r>
                    </a:p>
                  </a:txBody>
                  <a:tcPr marL="80139" marR="80139" marT="36987" marB="36987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1">
                          <a:effectLst/>
                        </a:rPr>
                        <a:t>3,00</a:t>
                      </a:r>
                      <a:endParaRPr lang="de-DE" sz="1100">
                        <a:effectLst/>
                      </a:endParaRPr>
                    </a:p>
                  </a:txBody>
                  <a:tcPr marL="80139" marR="80139" marT="36987" marB="36987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dirty="0">
                          <a:effectLst/>
                        </a:rPr>
                        <a:t>2,75</a:t>
                      </a:r>
                    </a:p>
                  </a:txBody>
                  <a:tcPr marL="80139" marR="80139" marT="36987" marB="36987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dirty="0">
                          <a:effectLst/>
                        </a:rPr>
                        <a:t>3,40</a:t>
                      </a:r>
                    </a:p>
                  </a:txBody>
                  <a:tcPr marL="80139" marR="80139" marT="36987" marB="36987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>
                          <a:effectLst/>
                        </a:rPr>
                        <a:t>3x absolut, 7x überwiegend, 3x eher nicht</a:t>
                      </a:r>
                    </a:p>
                  </a:txBody>
                  <a:tcPr marL="80139" marR="80139" marT="36987" marB="36987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116664"/>
                  </a:ext>
                </a:extLst>
              </a:tr>
              <a:tr h="448718">
                <a:tc>
                  <a:txBody>
                    <a:bodyPr/>
                    <a:lstStyle/>
                    <a:p>
                      <a:r>
                        <a:rPr lang="de-DE" sz="1100">
                          <a:effectLst/>
                        </a:rPr>
                        <a:t>Arbeit erleichtert</a:t>
                      </a:r>
                    </a:p>
                  </a:txBody>
                  <a:tcPr marL="80139" marR="80139" marT="36987" marB="36987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1">
                          <a:effectLst/>
                        </a:rPr>
                        <a:t>3,00</a:t>
                      </a:r>
                      <a:endParaRPr lang="de-DE" sz="1100">
                        <a:effectLst/>
                      </a:endParaRPr>
                    </a:p>
                  </a:txBody>
                  <a:tcPr marL="80139" marR="80139" marT="36987" marB="36987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>
                          <a:effectLst/>
                        </a:rPr>
                        <a:t>2,62</a:t>
                      </a:r>
                    </a:p>
                  </a:txBody>
                  <a:tcPr marL="80139" marR="80139" marT="36987" marB="36987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dirty="0">
                          <a:effectLst/>
                        </a:rPr>
                        <a:t>3,60</a:t>
                      </a:r>
                    </a:p>
                  </a:txBody>
                  <a:tcPr marL="80139" marR="80139" marT="36987" marB="36987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>
                          <a:effectLst/>
                        </a:rPr>
                        <a:t>5x absolut, 3x überwiegend, 5x eher nicht</a:t>
                      </a:r>
                    </a:p>
                  </a:txBody>
                  <a:tcPr marL="80139" marR="80139" marT="36987" marB="36987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1358921"/>
                  </a:ext>
                </a:extLst>
              </a:tr>
              <a:tr h="448718">
                <a:tc>
                  <a:txBody>
                    <a:bodyPr/>
                    <a:lstStyle/>
                    <a:p>
                      <a:r>
                        <a:rPr lang="de-DE" sz="1100">
                          <a:effectLst/>
                        </a:rPr>
                        <a:t>Sinnvoll für Förderarbeit einsetzbar</a:t>
                      </a:r>
                    </a:p>
                  </a:txBody>
                  <a:tcPr marL="80139" marR="80139" marT="36987" marB="36987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1">
                          <a:effectLst/>
                        </a:rPr>
                        <a:t>2,92</a:t>
                      </a:r>
                      <a:endParaRPr lang="de-DE" sz="1100">
                        <a:effectLst/>
                      </a:endParaRPr>
                    </a:p>
                  </a:txBody>
                  <a:tcPr marL="80139" marR="80139" marT="36987" marB="36987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>
                          <a:effectLst/>
                        </a:rPr>
                        <a:t>2,75</a:t>
                      </a:r>
                    </a:p>
                  </a:txBody>
                  <a:tcPr marL="80139" marR="80139" marT="36987" marB="36987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dirty="0">
                          <a:effectLst/>
                        </a:rPr>
                        <a:t>3,20</a:t>
                      </a:r>
                    </a:p>
                  </a:txBody>
                  <a:tcPr marL="80139" marR="80139" marT="36987" marB="36987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dirty="0">
                          <a:effectLst/>
                        </a:rPr>
                        <a:t>3x absolut, 6x überwiegend, 4x eher nicht</a:t>
                      </a:r>
                    </a:p>
                  </a:txBody>
                  <a:tcPr marL="80139" marR="80139" marT="36987" marB="36987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786040"/>
                  </a:ext>
                </a:extLst>
              </a:tr>
            </a:tbl>
          </a:graphicData>
        </a:graphic>
      </p:graphicFrame>
      <p:sp>
        <p:nvSpPr>
          <p:cNvPr id="6" name="Textfeld 5">
            <a:extLst>
              <a:ext uri="{FF2B5EF4-FFF2-40B4-BE49-F238E27FC236}">
                <a16:creationId xmlns:a16="http://schemas.microsoft.com/office/drawing/2014/main" id="{400DC775-E897-5E73-2CFD-CD9EEB0CE607}"/>
              </a:ext>
            </a:extLst>
          </p:cNvPr>
          <p:cNvSpPr txBox="1"/>
          <p:nvPr/>
        </p:nvSpPr>
        <p:spPr>
          <a:xfrm>
            <a:off x="290448" y="4473178"/>
            <a:ext cx="8352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1">
              <a:spcBef>
                <a:spcPct val="10000"/>
              </a:spcBef>
              <a:spcAft>
                <a:spcPts val="600"/>
              </a:spcAft>
              <a:buClr>
                <a:srgbClr val="F00000"/>
              </a:buClr>
              <a:buSzPct val="100000"/>
            </a:pPr>
            <a:r>
              <a:rPr lang="de-DE" sz="1400" b="1" dirty="0">
                <a:latin typeface="+mn-lt"/>
              </a:rPr>
              <a:t>Befunde: </a:t>
            </a:r>
            <a:r>
              <a:rPr lang="de-DE" sz="1400" dirty="0">
                <a:latin typeface="+mn-lt"/>
              </a:rPr>
              <a:t>Technik klar positiv. Fachlicher Nutzen gespalten. Schulleitung bewertet durchgängig besser als Lehrkräfte — bei "Arbeit erleichtert" fast ein Punkt Differenz (3,60 vs. 2,62).</a:t>
            </a:r>
          </a:p>
        </p:txBody>
      </p:sp>
    </p:spTree>
    <p:extLst>
      <p:ext uri="{BB962C8B-B14F-4D97-AF65-F5344CB8AC3E}">
        <p14:creationId xmlns:p14="http://schemas.microsoft.com/office/powerpoint/2010/main" val="36036661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400" dirty="0"/>
              <a:t>Fragebogen (Fachpraxis und Appbewertung)</a:t>
            </a:r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FF543513-1E46-5271-964E-0B1FB55D00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4675836"/>
              </p:ext>
            </p:extLst>
          </p:nvPr>
        </p:nvGraphicFramePr>
        <p:xfrm>
          <a:off x="683568" y="1465221"/>
          <a:ext cx="8208912" cy="2834721"/>
        </p:xfrm>
        <a:graphic>
          <a:graphicData uri="http://schemas.openxmlformats.org/drawingml/2006/table">
            <a:tbl>
              <a:tblPr/>
              <a:tblGrid>
                <a:gridCol w="2052228">
                  <a:extLst>
                    <a:ext uri="{9D8B030D-6E8A-4147-A177-3AD203B41FA5}">
                      <a16:colId xmlns:a16="http://schemas.microsoft.com/office/drawing/2014/main" val="4022304042"/>
                    </a:ext>
                  </a:extLst>
                </a:gridCol>
                <a:gridCol w="2052228">
                  <a:extLst>
                    <a:ext uri="{9D8B030D-6E8A-4147-A177-3AD203B41FA5}">
                      <a16:colId xmlns:a16="http://schemas.microsoft.com/office/drawing/2014/main" val="2027321473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3794172697"/>
                    </a:ext>
                  </a:extLst>
                </a:gridCol>
                <a:gridCol w="3456384">
                  <a:extLst>
                    <a:ext uri="{9D8B030D-6E8A-4147-A177-3AD203B41FA5}">
                      <a16:colId xmlns:a16="http://schemas.microsoft.com/office/drawing/2014/main" val="1637970636"/>
                    </a:ext>
                  </a:extLst>
                </a:gridCol>
              </a:tblGrid>
              <a:tr h="208468">
                <a:tc>
                  <a:txBody>
                    <a:bodyPr/>
                    <a:lstStyle/>
                    <a:p>
                      <a:r>
                        <a:rPr lang="de-DE" sz="900" b="1">
                          <a:effectLst/>
                        </a:rPr>
                        <a:t>Aussage</a:t>
                      </a:r>
                    </a:p>
                  </a:txBody>
                  <a:tcPr marL="52079" marR="52079" marT="24036" marB="24036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900" b="1">
                          <a:effectLst/>
                        </a:rPr>
                        <a:t>Ø</a:t>
                      </a:r>
                    </a:p>
                  </a:txBody>
                  <a:tcPr marL="52079" marR="52079" marT="24036" marB="24036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900" b="1">
                          <a:effectLst/>
                        </a:rPr>
                        <a:t>n</a:t>
                      </a:r>
                    </a:p>
                  </a:txBody>
                  <a:tcPr marL="52079" marR="52079" marT="24036" marB="24036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900" b="1">
                          <a:effectLst/>
                        </a:rPr>
                        <a:t>Verteilung</a:t>
                      </a:r>
                    </a:p>
                  </a:txBody>
                  <a:tcPr marL="52079" marR="52079" marT="24036" marB="24036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506092"/>
                  </a:ext>
                </a:extLst>
              </a:tr>
              <a:tr h="375179">
                <a:tc>
                  <a:txBody>
                    <a:bodyPr/>
                    <a:lstStyle/>
                    <a:p>
                      <a:r>
                        <a:rPr lang="de-DE" sz="900">
                          <a:effectLst/>
                        </a:rPr>
                        <a:t>Evaluiere regelmäßig Förderziele</a:t>
                      </a:r>
                    </a:p>
                  </a:txBody>
                  <a:tcPr marL="52079" marR="52079" marT="24036" marB="24036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900" b="1">
                          <a:effectLst/>
                        </a:rPr>
                        <a:t>3,42</a:t>
                      </a:r>
                      <a:endParaRPr lang="de-DE" sz="900">
                        <a:effectLst/>
                      </a:endParaRPr>
                    </a:p>
                  </a:txBody>
                  <a:tcPr marL="52079" marR="52079" marT="24036" marB="24036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900">
                          <a:effectLst/>
                        </a:rPr>
                        <a:t>12</a:t>
                      </a:r>
                    </a:p>
                  </a:txBody>
                  <a:tcPr marL="52079" marR="52079" marT="24036" marB="24036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900">
                          <a:effectLst/>
                        </a:rPr>
                        <a:t>7x absolut, 3x überwiegend, 2x eher nicht</a:t>
                      </a:r>
                    </a:p>
                  </a:txBody>
                  <a:tcPr marL="52079" marR="52079" marT="24036" marB="24036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3804886"/>
                  </a:ext>
                </a:extLst>
              </a:tr>
              <a:tr h="375179">
                <a:tc>
                  <a:txBody>
                    <a:bodyPr/>
                    <a:lstStyle/>
                    <a:p>
                      <a:r>
                        <a:rPr lang="de-DE" sz="900">
                          <a:effectLst/>
                        </a:rPr>
                        <a:t>Orientierung an BSLRR-Handreichung</a:t>
                      </a:r>
                    </a:p>
                  </a:txBody>
                  <a:tcPr marL="52079" marR="52079" marT="24036" marB="24036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900" b="1">
                          <a:effectLst/>
                        </a:rPr>
                        <a:t>3,31</a:t>
                      </a:r>
                      <a:endParaRPr lang="de-DE" sz="900">
                        <a:effectLst/>
                      </a:endParaRPr>
                    </a:p>
                  </a:txBody>
                  <a:tcPr marL="52079" marR="52079" marT="24036" marB="24036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900">
                          <a:effectLst/>
                        </a:rPr>
                        <a:t>13</a:t>
                      </a:r>
                    </a:p>
                  </a:txBody>
                  <a:tcPr marL="52079" marR="52079" marT="24036" marB="24036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900">
                          <a:effectLst/>
                        </a:rPr>
                        <a:t>6x absolut, 5x überwiegend, 2x eher nicht</a:t>
                      </a:r>
                    </a:p>
                  </a:txBody>
                  <a:tcPr marL="52079" marR="52079" marT="24036" marB="24036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793479"/>
                  </a:ext>
                </a:extLst>
              </a:tr>
              <a:tr h="375179">
                <a:tc>
                  <a:txBody>
                    <a:bodyPr/>
                    <a:lstStyle/>
                    <a:p>
                      <a:r>
                        <a:rPr lang="de-DE" sz="900">
                          <a:effectLst/>
                        </a:rPr>
                        <a:t>Nachteilsausgleich häufig angewendet</a:t>
                      </a:r>
                    </a:p>
                  </a:txBody>
                  <a:tcPr marL="52079" marR="52079" marT="24036" marB="24036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900" b="1">
                          <a:effectLst/>
                        </a:rPr>
                        <a:t>3,00</a:t>
                      </a:r>
                      <a:endParaRPr lang="de-DE" sz="900">
                        <a:effectLst/>
                      </a:endParaRPr>
                    </a:p>
                  </a:txBody>
                  <a:tcPr marL="52079" marR="52079" marT="24036" marB="24036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900">
                          <a:effectLst/>
                        </a:rPr>
                        <a:t>13</a:t>
                      </a:r>
                    </a:p>
                  </a:txBody>
                  <a:tcPr marL="52079" marR="52079" marT="24036" marB="24036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900">
                          <a:effectLst/>
                        </a:rPr>
                        <a:t>3x absolut, 7x überwiegend, 3x eher nicht</a:t>
                      </a:r>
                    </a:p>
                  </a:txBody>
                  <a:tcPr marL="52079" marR="52079" marT="24036" marB="24036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402018"/>
                  </a:ext>
                </a:extLst>
              </a:tr>
              <a:tr h="375179">
                <a:tc>
                  <a:txBody>
                    <a:bodyPr/>
                    <a:lstStyle/>
                    <a:p>
                      <a:r>
                        <a:rPr lang="de-DE" sz="900">
                          <a:effectLst/>
                        </a:rPr>
                        <a:t>Abweichung Leistungsfeststellung häufig</a:t>
                      </a:r>
                    </a:p>
                  </a:txBody>
                  <a:tcPr marL="52079" marR="52079" marT="24036" marB="24036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900" b="1">
                          <a:effectLst/>
                        </a:rPr>
                        <a:t>3,00</a:t>
                      </a:r>
                      <a:endParaRPr lang="de-DE" sz="900">
                        <a:effectLst/>
                      </a:endParaRPr>
                    </a:p>
                  </a:txBody>
                  <a:tcPr marL="52079" marR="52079" marT="24036" marB="24036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900">
                          <a:effectLst/>
                        </a:rPr>
                        <a:t>13</a:t>
                      </a:r>
                    </a:p>
                  </a:txBody>
                  <a:tcPr marL="52079" marR="52079" marT="24036" marB="24036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900">
                          <a:effectLst/>
                        </a:rPr>
                        <a:t>4x absolut, 5x überwiegend, 4x eher nicht</a:t>
                      </a:r>
                    </a:p>
                  </a:txBody>
                  <a:tcPr marL="52079" marR="52079" marT="24036" marB="24036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536689"/>
                  </a:ext>
                </a:extLst>
              </a:tr>
              <a:tr h="375179">
                <a:tc>
                  <a:txBody>
                    <a:bodyPr/>
                    <a:lstStyle/>
                    <a:p>
                      <a:r>
                        <a:rPr lang="de-DE" sz="900">
                          <a:effectLst/>
                        </a:rPr>
                        <a:t>DaZ-Maßnahmen signifikanter Anteil</a:t>
                      </a:r>
                    </a:p>
                  </a:txBody>
                  <a:tcPr marL="52079" marR="52079" marT="24036" marB="24036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900" b="1">
                          <a:effectLst/>
                        </a:rPr>
                        <a:t>2,45</a:t>
                      </a:r>
                      <a:endParaRPr lang="de-DE" sz="900">
                        <a:effectLst/>
                      </a:endParaRPr>
                    </a:p>
                  </a:txBody>
                  <a:tcPr marL="52079" marR="52079" marT="24036" marB="24036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900">
                          <a:effectLst/>
                        </a:rPr>
                        <a:t>11</a:t>
                      </a:r>
                    </a:p>
                  </a:txBody>
                  <a:tcPr marL="52079" marR="52079" marT="24036" marB="24036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900">
                          <a:effectLst/>
                        </a:rPr>
                        <a:t>1x absolut, 3x überwiegend, 7x eher nicht</a:t>
                      </a:r>
                    </a:p>
                  </a:txBody>
                  <a:tcPr marL="52079" marR="52079" marT="24036" marB="24036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9797816"/>
                  </a:ext>
                </a:extLst>
              </a:tr>
              <a:tr h="375179">
                <a:tc>
                  <a:txBody>
                    <a:bodyPr/>
                    <a:lstStyle/>
                    <a:p>
                      <a:r>
                        <a:rPr lang="de-DE" sz="900">
                          <a:effectLst/>
                        </a:rPr>
                        <a:t>Notenschutz häufig angewendet</a:t>
                      </a:r>
                    </a:p>
                  </a:txBody>
                  <a:tcPr marL="52079" marR="52079" marT="24036" marB="24036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900" b="1">
                          <a:effectLst/>
                        </a:rPr>
                        <a:t>2,54</a:t>
                      </a:r>
                      <a:endParaRPr lang="de-DE" sz="900">
                        <a:effectLst/>
                      </a:endParaRPr>
                    </a:p>
                  </a:txBody>
                  <a:tcPr marL="52079" marR="52079" marT="24036" marB="24036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900">
                          <a:effectLst/>
                        </a:rPr>
                        <a:t>13</a:t>
                      </a:r>
                    </a:p>
                  </a:txBody>
                  <a:tcPr marL="52079" marR="52079" marT="24036" marB="24036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900">
                          <a:effectLst/>
                        </a:rPr>
                        <a:t>1x absolut, 7x überwiegend, 3x eher nicht, 2x absolut nicht</a:t>
                      </a:r>
                    </a:p>
                  </a:txBody>
                  <a:tcPr marL="52079" marR="52079" marT="24036" marB="24036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319861"/>
                  </a:ext>
                </a:extLst>
              </a:tr>
              <a:tr h="375179">
                <a:tc>
                  <a:txBody>
                    <a:bodyPr/>
                    <a:lstStyle/>
                    <a:p>
                      <a:r>
                        <a:rPr lang="de-DE" sz="900" b="1">
                          <a:effectLst/>
                        </a:rPr>
                        <a:t>Förderziele in App reichen aus</a:t>
                      </a:r>
                      <a:endParaRPr lang="de-DE" sz="900">
                        <a:effectLst/>
                      </a:endParaRPr>
                    </a:p>
                  </a:txBody>
                  <a:tcPr marL="52079" marR="52079" marT="24036" marB="24036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900" b="1">
                          <a:effectLst/>
                        </a:rPr>
                        <a:t>2,15</a:t>
                      </a:r>
                      <a:endParaRPr lang="de-DE" sz="900">
                        <a:effectLst/>
                      </a:endParaRPr>
                    </a:p>
                  </a:txBody>
                  <a:tcPr marL="52079" marR="52079" marT="24036" marB="24036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900">
                          <a:effectLst/>
                        </a:rPr>
                        <a:t>13</a:t>
                      </a:r>
                    </a:p>
                  </a:txBody>
                  <a:tcPr marL="52079" marR="52079" marT="24036" marB="24036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900" dirty="0">
                          <a:effectLst/>
                        </a:rPr>
                        <a:t>1x absolut, 4x überwiegend, 4x eher nicht, 4x absolut nicht</a:t>
                      </a:r>
                    </a:p>
                  </a:txBody>
                  <a:tcPr marL="52079" marR="52079" marT="24036" marB="24036" anchor="ctr">
                    <a:lnL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072932"/>
                  </a:ext>
                </a:extLst>
              </a:tr>
            </a:tbl>
          </a:graphicData>
        </a:graphic>
      </p:graphicFrame>
      <p:sp>
        <p:nvSpPr>
          <p:cNvPr id="7" name="Textfeld 6">
            <a:extLst>
              <a:ext uri="{FF2B5EF4-FFF2-40B4-BE49-F238E27FC236}">
                <a16:creationId xmlns:a16="http://schemas.microsoft.com/office/drawing/2014/main" id="{6BA12EA1-6771-80FC-E0E6-7CD82D958184}"/>
              </a:ext>
            </a:extLst>
          </p:cNvPr>
          <p:cNvSpPr txBox="1"/>
          <p:nvPr/>
        </p:nvSpPr>
        <p:spPr>
          <a:xfrm>
            <a:off x="323528" y="4473178"/>
            <a:ext cx="8352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1">
              <a:spcBef>
                <a:spcPct val="10000"/>
              </a:spcBef>
              <a:spcAft>
                <a:spcPts val="600"/>
              </a:spcAft>
              <a:buClr>
                <a:srgbClr val="F00000"/>
              </a:buClr>
              <a:buSzPct val="100000"/>
            </a:pPr>
            <a:r>
              <a:rPr lang="de-DE" sz="1400" dirty="0">
                <a:latin typeface="+mn-lt"/>
              </a:rPr>
              <a:t>Tiefstwert im gesamten Fragebogen: Ø 2,15. 8 von 13 lehnen ausreichende Förderziele ab.</a:t>
            </a:r>
          </a:p>
        </p:txBody>
      </p:sp>
    </p:spTree>
    <p:extLst>
      <p:ext uri="{BB962C8B-B14F-4D97-AF65-F5344CB8AC3E}">
        <p14:creationId xmlns:p14="http://schemas.microsoft.com/office/powerpoint/2010/main" val="37221134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400" dirty="0"/>
              <a:t>Fragebogen (Was wir nicht wissen)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44994E4-F216-5151-025E-D6E5FDAA4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341" y="1563638"/>
            <a:ext cx="8484370" cy="3240881"/>
          </a:xfrm>
        </p:spPr>
        <p:txBody>
          <a:bodyPr/>
          <a:lstStyle/>
          <a:p>
            <a:pPr algn="l"/>
            <a:r>
              <a:rPr lang="de-DE" sz="1800" b="1" i="0" dirty="0">
                <a:solidFill>
                  <a:srgbClr val="1F2328"/>
                </a:solidFill>
                <a:effectLst/>
              </a:rPr>
              <a:t>Sind die 19 Teilnehmenden repräsentativ?</a:t>
            </a:r>
            <a:r>
              <a:rPr lang="de-DE" sz="1800" b="0" i="0" dirty="0">
                <a:solidFill>
                  <a:srgbClr val="1F2328"/>
                </a:solidFill>
                <a:effectLst/>
              </a:rPr>
              <a:t> Ø Antwortquote 62%, nur 1 vollständig ausgefüllt. Die kritischsten oder passivsten Nutzer könnten systematisch fehlen.</a:t>
            </a:r>
          </a:p>
          <a:p>
            <a:pPr algn="l"/>
            <a:r>
              <a:rPr lang="de-DE" sz="1800" b="1" i="0" dirty="0">
                <a:solidFill>
                  <a:srgbClr val="1F2328"/>
                </a:solidFill>
                <a:effectLst/>
              </a:rPr>
              <a:t>Warum haben so viele den Fragebogen abgebrochen?</a:t>
            </a:r>
            <a:r>
              <a:rPr lang="de-DE" sz="1800" b="0" i="0" dirty="0">
                <a:solidFill>
                  <a:srgbClr val="1F2328"/>
                </a:solidFill>
                <a:effectLst/>
              </a:rPr>
              <a:t> IDs 6, 16, 18 mit 10% Quote, keine Angaben. Ob Desinteresse, technische Probleme oder Zeit — unbekannt.</a:t>
            </a:r>
          </a:p>
          <a:p>
            <a:pPr algn="l"/>
            <a:r>
              <a:rPr lang="de-DE" sz="1800" b="1" i="0" dirty="0">
                <a:solidFill>
                  <a:srgbClr val="1F2328"/>
                </a:solidFill>
                <a:effectLst/>
              </a:rPr>
              <a:t>Unterscheiden sich Lehrkräfte und Schulleitung wirklich inhaltlich?</a:t>
            </a:r>
            <a:r>
              <a:rPr lang="de-DE" sz="1800" b="0" i="0" dirty="0">
                <a:solidFill>
                  <a:srgbClr val="1F2328"/>
                </a:solidFill>
                <a:effectLst/>
              </a:rPr>
              <a:t> Der Datensatz (n=13 auswertbar) ist zu klein für statistisch belastbare Aussagen über Rollenunterschiede.</a:t>
            </a:r>
          </a:p>
        </p:txBody>
      </p:sp>
    </p:spTree>
    <p:extLst>
      <p:ext uri="{BB962C8B-B14F-4D97-AF65-F5344CB8AC3E}">
        <p14:creationId xmlns:p14="http://schemas.microsoft.com/office/powerpoint/2010/main" val="26311673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CFE2FEF5-3113-BD4C-0F2D-2C7F22034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Gesamtbericht und Resümee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1DF222E-94BB-0B00-9FE1-69709449276D}"/>
              </a:ext>
            </a:extLst>
          </p:cNvPr>
          <p:cNvSpPr txBox="1"/>
          <p:nvPr/>
        </p:nvSpPr>
        <p:spPr>
          <a:xfrm rot="20215109">
            <a:off x="940950" y="2843741"/>
            <a:ext cx="6624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>
                <a:solidFill>
                  <a:schemeClr val="bg1">
                    <a:lumMod val="50000"/>
                  </a:schemeClr>
                </a:solidFill>
              </a:rPr>
              <a:t>Siehe Komplettbericht </a:t>
            </a:r>
          </a:p>
        </p:txBody>
      </p:sp>
    </p:spTree>
    <p:extLst>
      <p:ext uri="{BB962C8B-B14F-4D97-AF65-F5344CB8AC3E}">
        <p14:creationId xmlns:p14="http://schemas.microsoft.com/office/powerpoint/2010/main" val="3575196660"/>
      </p:ext>
    </p:extLst>
  </p:cSld>
  <p:clrMapOvr>
    <a:masterClrMapping/>
  </p:clrMapOvr>
</p:sld>
</file>

<file path=ppt/theme/theme1.xml><?xml version="1.0" encoding="utf-8"?>
<a:theme xmlns:a="http://schemas.openxmlformats.org/drawingml/2006/main" name="HKM_GrunddesignPPT">
  <a:themeElements>
    <a:clrScheme name="ppt-Vorlage_IQ-Standard_2011 15">
      <a:dk1>
        <a:srgbClr val="000000"/>
      </a:dk1>
      <a:lt1>
        <a:srgbClr val="FFFFFF"/>
      </a:lt1>
      <a:dk2>
        <a:srgbClr val="004B95"/>
      </a:dk2>
      <a:lt2>
        <a:srgbClr val="C0C0C0"/>
      </a:lt2>
      <a:accent1>
        <a:srgbClr val="799BC5"/>
      </a:accent1>
      <a:accent2>
        <a:srgbClr val="DB2D36"/>
      </a:accent2>
      <a:accent3>
        <a:srgbClr val="FFFFFF"/>
      </a:accent3>
      <a:accent4>
        <a:srgbClr val="000000"/>
      </a:accent4>
      <a:accent5>
        <a:srgbClr val="BECBDF"/>
      </a:accent5>
      <a:accent6>
        <a:srgbClr val="C62830"/>
      </a:accent6>
      <a:hlink>
        <a:srgbClr val="004B95"/>
      </a:hlink>
      <a:folHlink>
        <a:srgbClr val="808080"/>
      </a:folHlink>
    </a:clrScheme>
    <a:fontScheme name="ppt-Vorlage_IQ-Standard_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pt-Vorlage_IQ-Standard_2011 1">
        <a:dk1>
          <a:srgbClr val="25252F"/>
        </a:dk1>
        <a:lt1>
          <a:srgbClr val="9999FF"/>
        </a:lt1>
        <a:dk2>
          <a:srgbClr val="000000"/>
        </a:dk2>
        <a:lt2>
          <a:srgbClr val="FFFFFF"/>
        </a:lt2>
        <a:accent1>
          <a:srgbClr val="3366FF"/>
        </a:accent1>
        <a:accent2>
          <a:srgbClr val="003399"/>
        </a:accent2>
        <a:accent3>
          <a:srgbClr val="AAAAAA"/>
        </a:accent3>
        <a:accent4>
          <a:srgbClr val="8282DA"/>
        </a:accent4>
        <a:accent5>
          <a:srgbClr val="ADB8FF"/>
        </a:accent5>
        <a:accent6>
          <a:srgbClr val="002D8A"/>
        </a:accent6>
        <a:hlink>
          <a:srgbClr val="0099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2">
        <a:dk1>
          <a:srgbClr val="314183"/>
        </a:dk1>
        <a:lt1>
          <a:srgbClr val="FFFFFF"/>
        </a:lt1>
        <a:dk2>
          <a:srgbClr val="0B1E45"/>
        </a:dk2>
        <a:lt2>
          <a:srgbClr val="FFFFFF"/>
        </a:lt2>
        <a:accent1>
          <a:srgbClr val="6666FF"/>
        </a:accent1>
        <a:accent2>
          <a:srgbClr val="0066FF"/>
        </a:accent2>
        <a:accent3>
          <a:srgbClr val="AAABB0"/>
        </a:accent3>
        <a:accent4>
          <a:srgbClr val="DADADA"/>
        </a:accent4>
        <a:accent5>
          <a:srgbClr val="B8B8FF"/>
        </a:accent5>
        <a:accent6>
          <a:srgbClr val="005CE7"/>
        </a:accent6>
        <a:hlink>
          <a:srgbClr val="0066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3">
        <a:dk1>
          <a:srgbClr val="194349"/>
        </a:dk1>
        <a:lt1>
          <a:srgbClr val="FFFFCC"/>
        </a:lt1>
        <a:dk2>
          <a:srgbClr val="006666"/>
        </a:dk2>
        <a:lt2>
          <a:srgbClr val="FFFFFF"/>
        </a:lt2>
        <a:accent1>
          <a:srgbClr val="99CC00"/>
        </a:accent1>
        <a:accent2>
          <a:srgbClr val="00B6B2"/>
        </a:accent2>
        <a:accent3>
          <a:srgbClr val="AAB8B8"/>
        </a:accent3>
        <a:accent4>
          <a:srgbClr val="DADAAE"/>
        </a:accent4>
        <a:accent5>
          <a:srgbClr val="CAE2AA"/>
        </a:accent5>
        <a:accent6>
          <a:srgbClr val="00A5A1"/>
        </a:accent6>
        <a:hlink>
          <a:srgbClr val="669900"/>
        </a:hlink>
        <a:folHlink>
          <a:srgbClr val="66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4">
        <a:dk1>
          <a:srgbClr val="194349"/>
        </a:dk1>
        <a:lt1>
          <a:srgbClr val="FFFFCC"/>
        </a:lt1>
        <a:dk2>
          <a:srgbClr val="0000FF"/>
        </a:dk2>
        <a:lt2>
          <a:srgbClr val="FFFFFF"/>
        </a:lt2>
        <a:accent1>
          <a:srgbClr val="0099FF"/>
        </a:accent1>
        <a:accent2>
          <a:srgbClr val="33CC33"/>
        </a:accent2>
        <a:accent3>
          <a:srgbClr val="AAAAFF"/>
        </a:accent3>
        <a:accent4>
          <a:srgbClr val="DADAAE"/>
        </a:accent4>
        <a:accent5>
          <a:srgbClr val="AACAFF"/>
        </a:accent5>
        <a:accent6>
          <a:srgbClr val="2DB92D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5">
        <a:dk1>
          <a:srgbClr val="194349"/>
        </a:dk1>
        <a:lt1>
          <a:srgbClr val="FFFFCC"/>
        </a:lt1>
        <a:dk2>
          <a:srgbClr val="72A497"/>
        </a:dk2>
        <a:lt2>
          <a:srgbClr val="000000"/>
        </a:lt2>
        <a:accent1>
          <a:srgbClr val="805D32"/>
        </a:accent1>
        <a:accent2>
          <a:srgbClr val="7D2F3C"/>
        </a:accent2>
        <a:accent3>
          <a:srgbClr val="BCCFC9"/>
        </a:accent3>
        <a:accent4>
          <a:srgbClr val="DADAAE"/>
        </a:accent4>
        <a:accent5>
          <a:srgbClr val="C0B6AD"/>
        </a:accent5>
        <a:accent6>
          <a:srgbClr val="712A35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6">
        <a:dk1>
          <a:srgbClr val="1C1C1C"/>
        </a:dk1>
        <a:lt1>
          <a:srgbClr val="FFFFFF"/>
        </a:lt1>
        <a:dk2>
          <a:srgbClr val="710F0F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BB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666699"/>
        </a:hlink>
        <a:folHlink>
          <a:srgbClr val="99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7">
        <a:dk1>
          <a:srgbClr val="336666"/>
        </a:dk1>
        <a:lt1>
          <a:srgbClr val="FFFFFF"/>
        </a:lt1>
        <a:dk2>
          <a:srgbClr val="000000"/>
        </a:dk2>
        <a:lt2>
          <a:srgbClr val="666699"/>
        </a:lt2>
        <a:accent1>
          <a:srgbClr val="99CCCC"/>
        </a:accent1>
        <a:accent2>
          <a:srgbClr val="CCCCCC"/>
        </a:accent2>
        <a:accent3>
          <a:srgbClr val="FFFFFF"/>
        </a:accent3>
        <a:accent4>
          <a:srgbClr val="2A5656"/>
        </a:accent4>
        <a:accent5>
          <a:srgbClr val="CAE2E2"/>
        </a:accent5>
        <a:accent6>
          <a:srgbClr val="B9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8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3366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9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CC33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E2ADAA"/>
        </a:accent5>
        <a:accent6>
          <a:srgbClr val="B98A00"/>
        </a:accent6>
        <a:hlink>
          <a:srgbClr val="CC66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0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666699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B8CA"/>
        </a:accent5>
        <a:accent6>
          <a:srgbClr val="8A8AE7"/>
        </a:accent6>
        <a:hlink>
          <a:srgbClr val="3366FF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799BC5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ECBDF"/>
        </a:accent5>
        <a:accent6>
          <a:srgbClr val="E70000"/>
        </a:accent6>
        <a:hlink>
          <a:srgbClr val="0033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BCCDE2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DAE3EE"/>
        </a:accent5>
        <a:accent6>
          <a:srgbClr val="E70000"/>
        </a:accent6>
        <a:hlink>
          <a:srgbClr val="0033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799BC5"/>
        </a:accent1>
        <a:accent2>
          <a:srgbClr val="DB2D36"/>
        </a:accent2>
        <a:accent3>
          <a:srgbClr val="FFFFFF"/>
        </a:accent3>
        <a:accent4>
          <a:srgbClr val="000000"/>
        </a:accent4>
        <a:accent5>
          <a:srgbClr val="BECBDF"/>
        </a:accent5>
        <a:accent6>
          <a:srgbClr val="C62830"/>
        </a:accent6>
        <a:hlink>
          <a:srgbClr val="0033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799BC5"/>
        </a:accent1>
        <a:accent2>
          <a:srgbClr val="DB2D36"/>
        </a:accent2>
        <a:accent3>
          <a:srgbClr val="FFFFFF"/>
        </a:accent3>
        <a:accent4>
          <a:srgbClr val="000000"/>
        </a:accent4>
        <a:accent5>
          <a:srgbClr val="BECBDF"/>
        </a:accent5>
        <a:accent6>
          <a:srgbClr val="C62830"/>
        </a:accent6>
        <a:hlink>
          <a:srgbClr val="004B95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5">
        <a:dk1>
          <a:srgbClr val="000000"/>
        </a:dk1>
        <a:lt1>
          <a:srgbClr val="FFFFFF"/>
        </a:lt1>
        <a:dk2>
          <a:srgbClr val="004B95"/>
        </a:dk2>
        <a:lt2>
          <a:srgbClr val="C0C0C0"/>
        </a:lt2>
        <a:accent1>
          <a:srgbClr val="799BC5"/>
        </a:accent1>
        <a:accent2>
          <a:srgbClr val="DB2D36"/>
        </a:accent2>
        <a:accent3>
          <a:srgbClr val="FFFFFF"/>
        </a:accent3>
        <a:accent4>
          <a:srgbClr val="000000"/>
        </a:accent4>
        <a:accent5>
          <a:srgbClr val="BECBDF"/>
        </a:accent5>
        <a:accent6>
          <a:srgbClr val="C62830"/>
        </a:accent6>
        <a:hlink>
          <a:srgbClr val="004B95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6">
        <a:dk1>
          <a:srgbClr val="000000"/>
        </a:dk1>
        <a:lt1>
          <a:srgbClr val="FFFFFF"/>
        </a:lt1>
        <a:dk2>
          <a:srgbClr val="004B95"/>
        </a:dk2>
        <a:lt2>
          <a:srgbClr val="C0C0C0"/>
        </a:lt2>
        <a:accent1>
          <a:srgbClr val="FFCC00"/>
        </a:accent1>
        <a:accent2>
          <a:srgbClr val="DB2D36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C62830"/>
        </a:accent6>
        <a:hlink>
          <a:srgbClr val="004B95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hmkb-folienvorlage_16zu9.pptx" id="{BA8D154A-E729-4E84-A4F1-AC64C705522D}" vid="{DC796774-9861-4D77-840E-A98AB6EA070D}"/>
    </a:ext>
  </a:ext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057EFD54097B4438E7A80F3D1373265" ma:contentTypeVersion="1" ma:contentTypeDescription="Ein neues Dokument erstellen." ma:contentTypeScope="" ma:versionID="834bd551b14fcde88a9c6a4a0bf530df">
  <xsd:schema xmlns:xsd="http://www.w3.org/2001/XMLSchema" xmlns:xs="http://www.w3.org/2001/XMLSchema" xmlns:p="http://schemas.microsoft.com/office/2006/metadata/properties" xmlns:ns2="8637de2c-6bc0-411d-bf65-aa36b7f9c66d" targetNamespace="http://schemas.microsoft.com/office/2006/metadata/properties" ma:root="true" ma:fieldsID="e455fcda4cde3aa6122f413ba46336a9" ns2:_="">
    <xsd:import namespace="8637de2c-6bc0-411d-bf65-aa36b7f9c66d"/>
    <xsd:element name="properties">
      <xsd:complexType>
        <xsd:sequence>
          <xsd:element name="documentManagement">
            <xsd:complexType>
              <xsd:all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37de2c-6bc0-411d-bf65-aa36b7f9c6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00017A1-94BC-4394-9852-7E0A4C91927E}">
  <ds:schemaRefs>
    <ds:schemaRef ds:uri="http://purl.org/dc/terms/"/>
    <ds:schemaRef ds:uri="8637de2c-6bc0-411d-bf65-aa36b7f9c66d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dcmitype/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81B246F-A24C-4FF5-9599-4E67AE3D466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637de2c-6bc0-411d-bf65-aa36b7f9c6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D209D72-484E-46E5-8AF5-E4C907679F9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hmkb-folienvorlage_16zu9</Template>
  <TotalTime>0</TotalTime>
  <Words>1161</Words>
  <Application>Microsoft Office PowerPoint</Application>
  <PresentationFormat>Bildschirmpräsentation (16:9)</PresentationFormat>
  <Paragraphs>165</Paragraphs>
  <Slides>16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2" baseType="lpstr">
      <vt:lpstr>ＭＳ Ｐゴシック</vt:lpstr>
      <vt:lpstr>Arial</vt:lpstr>
      <vt:lpstr>Courier New</vt:lpstr>
      <vt:lpstr>Symbol</vt:lpstr>
      <vt:lpstr>Wingdings</vt:lpstr>
      <vt:lpstr>HKM_GrunddesignPPT</vt:lpstr>
      <vt:lpstr>Pilotergebnisse ila </vt:lpstr>
      <vt:lpstr>Anonymisiertes Nutzerverhalten (Allgemein)</vt:lpstr>
      <vt:lpstr>Anonymisiertes Nutzerverhalten (Förderungen)</vt:lpstr>
      <vt:lpstr>Anonymisiertes Nutzerverhalten (Maßnahmen)</vt:lpstr>
      <vt:lpstr>Anonymisiertes Nutzerverhalten (Förderplan)</vt:lpstr>
      <vt:lpstr>Anonymisiertes Nutzerverhalten (Was wir nicht wissen)</vt:lpstr>
      <vt:lpstr>Integriertes Feedback (Allgemein)</vt:lpstr>
      <vt:lpstr>Integriertes Feedback (Rating – Durchschnitt 2,7)</vt:lpstr>
      <vt:lpstr>Integriertes Feedback (Cluster Freitextfelder)</vt:lpstr>
      <vt:lpstr>Integriertes Feedback (Cluster Freitextfelder - Auszug)</vt:lpstr>
      <vt:lpstr>Integriertes Feedback (was wir nicht wissen)</vt:lpstr>
      <vt:lpstr>Fragebogen (Allgemein)</vt:lpstr>
      <vt:lpstr>Fragebogen (Bedienbarkeit und Nützlichkeit)</vt:lpstr>
      <vt:lpstr>Fragebogen (Fachpraxis und Appbewertung)</vt:lpstr>
      <vt:lpstr>Fragebogen (Was wir nicht wissen)</vt:lpstr>
      <vt:lpstr>Gesamtbericht und Resümee</vt:lpstr>
    </vt:vector>
  </TitlesOfParts>
  <Company>Land Hessen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Titelfolie – Standard</dc:title>
  <dc:creator>Rheingans, Kerstin (HMKB)</dc:creator>
  <cp:lastModifiedBy>Bonhoff, Sarah (HMKB)</cp:lastModifiedBy>
  <cp:revision>12</cp:revision>
  <dcterms:created xsi:type="dcterms:W3CDTF">2025-04-16T11:33:11Z</dcterms:created>
  <dcterms:modified xsi:type="dcterms:W3CDTF">2026-04-11T17:07:24Z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0x0101000057EFD54097B4438E7A80F3D1373265</vt:lpwstr>
  </property>
</Properties>
</file>